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27eaa5fd45a4817" /><Relationship Type="http://schemas.openxmlformats.org/officeDocument/2006/relationships/extended-properties" Target="/docProps/app.xml" Id="R9aaa879439a94bed" /><Relationship Type="http://schemas.openxmlformats.org/officeDocument/2006/relationships/officeDocument" Target="/ppt/presentation.xml" Id="R8b0ab980be654a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dec8d31e774c8b"/>
  </p:sldMasterIdLst>
  <p:notesMasterIdLst>
    <p:notesMasterId xmlns:r="http://schemas.openxmlformats.org/officeDocument/2006/relationships" r:id="Rc7efcd1aba1b4847"/>
  </p:notesMasterIdLst>
  <p:sldIdLst>
    <p:sldId xmlns:r="http://schemas.openxmlformats.org/officeDocument/2006/relationships" id="256" r:id="Rbc03598436954941"/>
    <p:sldId xmlns:r="http://schemas.openxmlformats.org/officeDocument/2006/relationships" id="257" r:id="R355879793e4c42ff"/>
    <p:sldId xmlns:r="http://schemas.openxmlformats.org/officeDocument/2006/relationships" id="258" r:id="R979a08e74a2a445b"/>
    <p:sldId xmlns:r="http://schemas.openxmlformats.org/officeDocument/2006/relationships" id="259" r:id="Ra0584df6942e4a7e"/>
    <p:sldId xmlns:r="http://schemas.openxmlformats.org/officeDocument/2006/relationships" id="260" r:id="Rfce2f01548f14c20"/>
    <p:sldId xmlns:r="http://schemas.openxmlformats.org/officeDocument/2006/relationships" id="261" r:id="R7d0a725da3a346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8d8df2e4e94e49" /><Relationship Type="http://schemas.openxmlformats.org/officeDocument/2006/relationships/slideMaster" Target="/ppt/slideMasters/slideMaster1.xml" Id="R9cdec8d31e774c8b" /><Relationship Type="http://schemas.openxmlformats.org/officeDocument/2006/relationships/notesMaster" Target="/ppt/notesMasters/notesMaster1.xml" Id="Rc7efcd1aba1b4847" /><Relationship Type="http://schemas.openxmlformats.org/officeDocument/2006/relationships/presProps" Target="/ppt/presProps.xml" Id="R90b2f06eae2a4c4b" /><Relationship Type="http://schemas.openxmlformats.org/officeDocument/2006/relationships/tableStyles" Target="/ppt/tableStyles.xml" Id="Rcf15d877e50d4ec4" /><Relationship Type="http://schemas.openxmlformats.org/officeDocument/2006/relationships/slide" Target="/ppt/slides/slide1.xml" Id="Rbc03598436954941" /><Relationship Type="http://schemas.openxmlformats.org/officeDocument/2006/relationships/slide" Target="/ppt/slides/slide2.xml" Id="R355879793e4c42ff" /><Relationship Type="http://schemas.openxmlformats.org/officeDocument/2006/relationships/slide" Target="/ppt/slides/slide3.xml" Id="R979a08e74a2a445b" /><Relationship Type="http://schemas.openxmlformats.org/officeDocument/2006/relationships/slide" Target="/ppt/slides/slide4.xml" Id="Ra0584df6942e4a7e" /><Relationship Type="http://schemas.openxmlformats.org/officeDocument/2006/relationships/slide" Target="/ppt/slides/slide5.xml" Id="Rfce2f01548f14c20" /><Relationship Type="http://schemas.openxmlformats.org/officeDocument/2006/relationships/slide" Target="/ppt/slides/slide6.xml" Id="R7d0a725da3a346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0e447f06fc4d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a644aed6894cbc" /><Relationship Type="http://schemas.openxmlformats.org/officeDocument/2006/relationships/notesMaster" Target="/ppt/notesMasters/notesMaster1.xml" Id="R2eab83c2965143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e7ef8367a34e39" /><Relationship Type="http://schemas.openxmlformats.org/officeDocument/2006/relationships/notesMaster" Target="/ppt/notesMasters/notesMaster1.xml" Id="R6c508408378148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02b0b3ed304283" /><Relationship Type="http://schemas.openxmlformats.org/officeDocument/2006/relationships/notesMaster" Target="/ppt/notesMasters/notesMaster1.xml" Id="R68355899515146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26d8825a8c4adf" /><Relationship Type="http://schemas.openxmlformats.org/officeDocument/2006/relationships/notesMaster" Target="/ppt/notesMasters/notesMaster1.xml" Id="R5a9cc28f0d8a41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d055d60b814271" /><Relationship Type="http://schemas.openxmlformats.org/officeDocument/2006/relationships/notesMaster" Target="/ppt/notesMasters/notesMaster1.xml" Id="Rc8163d0972f94f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839db3f95740fb" /><Relationship Type="http://schemas.openxmlformats.org/officeDocument/2006/relationships/notesMaster" Target="/ppt/notesMasters/notesMaster1.xml" Id="R528eefd465524a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本页为高密度的漏洞治理课题中期汇报框架。按背景/问题/挑战—方案设计—成果输出/效果讲述。业务流程、系统框架、UML 类图、时序图均为通用方案示意，并非已实现功能的证明；请按实际方案调整。代码量需明确是否排除依赖、自动生成文件和测试代码。网页区域用于插入实际系统截图。效率以同一任务、同一统计口径的处理耗时对比，耗时下降比例=(优化前耗时−优化后耗时)/优化前耗时×100%；须补充样本数及测量条件。流程参考：NIST SP 800-40 Rev.4，https://csrc.nist.gov/pubs/sp/800/40/r4/final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本页为第二种单页排版方案：上方横向排列背景介绍、问题描述、关键挑战；中部集中展示方案设计，左侧业务流程及系统框架，右侧 UML 类图和时序图；底部汇总代码量、效率变化与网页截图。图示均为通用方案示意，实际信息尚待填写。效率需采用同一任务、同一测量口径比较，耗时下降=(优化前耗时−优化后耗时)/优化前耗时×100%，并记录样本数及测量条件。代码量需明确是否排除依赖、自动生成文件和测试代码。流程参考：NIST SP 800-40 Rev.4，https://csrc.nist.gov/pubs/sp/800/40/r4/final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第三版单页框架突出中央系统框架：顶部横贯治理主线，左侧说明背景、问题、挑战，右侧展示代码量和效率，底部补充 UML 类图、时序图及网页截图。图示为排版示意，实际模块与实现状态需据实替换。效率以同一任务、同一口径的处理耗时进行对比，耗时下降=(优化前耗时−优化后耗时)/优化前耗时×100%，并记录样本数及测量条件。流程参考：NIST SP 800-40 Rev.4，https://csrc.nist.gov/pubs/sp/800/40/r4/final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本页依据历史聊天“dts”整理。来源聊天 ID：6a8bf43c-0d9c-83ee-8b56-bab574e21020、6a90ddff-2990-83e8-a050-5d00b4382e3c。</a:t>
            </a:r>
          </a:p>
          <a:p xmlns:a="http://schemas.openxmlformats.org/drawingml/2006/main">
            <a:r>
              <a:t>业务流程：读取基线 Excel 的 Sheet1 与评审总表，按 HWPSIRT ID + CVE ID 关联，筛选最新状态为无影响、是否评审为是、已走单为空的记录。按 PBI ID + HWPSIRT ID 去重，预检必要字段及证明文件，获取 Token、缓存上传后的 file_id，并通过 Dify 执行 DTS 工作流；日志、PrettyTable 版本汇总与小鲁班通知用于结果跟踪。任务接入 APScheduler 与 Celery。</a:t>
            </a:r>
          </a:p>
          <a:p xmlns:a="http://schemas.openxmlformats.org/drawingml/2006/main">
            <a:r>
              <a:t>状态边界：历史成功记录检查曾被要求关闭；未将历史跳过写为当前必经步骤。Excel 回写方法曾经存在且有历史执行记录，但另一段最新代码讨论表明当前 run_auto_submit 入口未调用回写方法，因此未将回写列为当前流程。MongoDB 创建端与消费端数据源不一致已定位，尚无本次可核验的修复验证证据。</a:t>
            </a:r>
          </a:p>
          <a:p xmlns:a="http://schemas.openxmlformats.org/drawingml/2006/main">
            <a:r>
              <a:t>工作流 status=succeeded 不等同于 DTS 业务成功，须检查 dtsNo 和业务错误输出。历史提到的 9 份基线、668 条候选属于一次初筛，不是实际成功走单量；本页未写入未经核实的量化收益。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本页依据历史聊天与本轮用户确认整理。</a:t>
            </a:r>
          </a:p>
          <a:p xmlns:a="http://schemas.openxmlformats.org/drawingml/2006/main">
            <a:r>
              <a:t>来源：历史聊天“回忆九州内容”（6adeb43a-cdd0-83e8-a541-e94ff7ccf50b）及“CVE双平台测试分析”（6a7a882a-a998-83ee-96d0-ba04c7fb4eaf）。用户本轮明确确认“IT平台嵌入已完成接入和联调”。</a:t>
            </a:r>
          </a:p>
          <a:p xmlns:a="http://schemas.openxmlformats.org/drawingml/2006/main">
            <a:r>
              <a:t>九州漏洞分析：开展九州与自研平台的版本级CVE影响评估对比，核查任务执行与结论产出，识别误判、结果缺失与联合任务状态等问题。已有历史报告的总体准确率存在样本构成与字段来源限制，本页不直接展示易造成误解的准确率。用户已熟悉现有AI漏洞分析Harness，后续针对执行流程、异常处理和结果验证开展分析改进；不表述为已经完成Harness改造。</a:t>
            </a:r>
          </a:p>
          <a:p xmlns:a="http://schemas.openxmlformats.org/drawingml/2006/main">
            <a:r>
              <a:t>漏洞修补工程试用：独立的Kernel CVE补丁批量对比脚本，以标准series.conf及标准补丁构造共同源码基线，标准参考状态只由标准补丁推进；各平台采用独立临时源码树，检查补丁存在性、可应用性、修改文件集合与应用后内容，形成Excel汇总与逐CVE明细。对共享、依赖、禁用及需人工复核的情况分类处理。它验证补丁应用与代码一致性，不替代编译、功能或运行时验证，也不与后续Backport Skill混为一谈。</a:t>
            </a:r>
          </a:p>
          <a:p xmlns:a="http://schemas.openxmlformats.org/drawingml/2006/main">
            <a:r>
              <a:t>IT平台嵌入：按照本轮用户确认，仅陈述已完成接入、联调与业务平台集成；未虚构具体接口、鉴权方案、上线范围或量化收益。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本页依据历史聊天与本轮用户确认整理。</a:t>
            </a:r>
          </a:p>
          <a:p xmlns:a="http://schemas.openxmlformats.org/drawingml/2006/main">
            <a:r>
              <a:t>来源：历史聊天“回忆九州内容”（6adeb43a-cdd0-83e8-a541-e94ff7ccf50b）及“CVE双平台测试分析”（6a7a882a-a998-83ee-96d0-ba04c7fb4eaf）。用户本轮明确确认“IT平台嵌入已完成接入和联调”。</a:t>
            </a:r>
          </a:p>
          <a:p xmlns:a="http://schemas.openxmlformats.org/drawingml/2006/main">
            <a:r>
              <a:t>九州漏洞分析：开展九州与自研平台的版本级CVE影响评估对比，核查任务执行与结论产出，识别误判、结果缺失与联合任务状态等问题。已有历史报告的总体准确率存在样本构成与字段来源限制，本页不直接展示易造成误解的准确率。用户已熟悉现有AI漏洞分析Harness，后续针对执行流程、异常处理和结果验证开展分析改进；不表述为已经完成Harness改造。</a:t>
            </a:r>
          </a:p>
          <a:p xmlns:a="http://schemas.openxmlformats.org/drawingml/2006/main">
            <a:r>
              <a:t>漏洞修补工程试用：独立的Kernel CVE补丁批量对比脚本，以标准series.conf及标准补丁构造共同源码基线，标准参考状态只由标准补丁推进；各平台采用独立临时源码树，检查补丁存在性、可应用性、修改文件集合与应用后内容，形成Excel汇总与逐CVE明细。对共享、依赖、禁用及需人工复核的情况分类处理。它验证补丁应用与代码一致性，不替代编译、功能或运行时验证，也不与后续Backport Skill混为一谈。</a:t>
            </a:r>
          </a:p>
          <a:p xmlns:a="http://schemas.openxmlformats.org/drawingml/2006/main">
            <a:r>
              <a:t>IT平台嵌入：按照本轮用户确认，仅陈述已完成接入、联调与业务平台集成；未虚构具体接口、鉴权方案、上线范围或量化收益。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e573277ab54a9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171ba3f42a45b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0336df9fc2412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f2beb0121d41c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0a9a281635423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8a9399478145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61416B6-EA3C-46C2-B426-8D2973E316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FFA1C6E-06FF-49E3-9070-3DE9C741E8E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337ADA5-BC1A-4F96-9E8F-ABB393F3F8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B3AC33-3FE9-406F-B22E-34443B6102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5EAA038-358E-4414-80C5-61C321CD7CC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3B84F34-1D90-41D9-B239-30E5E1B0E6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567778C-5C6F-4D56-A080-2D127C6B94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33D68C8-224C-4CCB-A4A8-B05C20F0016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EBE87B-F290-40E3-B7D8-0D07290F30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834D2DF-322D-4623-B9B6-69731BDE4D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cf3c85c2a4475b" /><Relationship Type="http://schemas.openxmlformats.org/officeDocument/2006/relationships/slideLayout" Target="/ppt/slideLayouts/slideLayout1.xml" Id="R10fc9c00be0a4c2a" /><Relationship Type="http://schemas.openxmlformats.org/officeDocument/2006/relationships/slideLayout" Target="/ppt/slideLayouts/slideLayout2.xml" Id="Ra672809bd7894c05" /><Relationship Type="http://schemas.openxmlformats.org/officeDocument/2006/relationships/slideLayout" Target="/ppt/slideLayouts/slideLayout3.xml" Id="R5aad21c0e4bb40db" /><Relationship Type="http://schemas.openxmlformats.org/officeDocument/2006/relationships/slideLayout" Target="/ppt/slideLayouts/slideLayout4.xml" Id="Rfd9279416ce44a39" /><Relationship Type="http://schemas.openxmlformats.org/officeDocument/2006/relationships/slideLayout" Target="/ppt/slideLayouts/slideLayout5.xml" Id="Rf8f4631bbe504097" /><Relationship Type="http://schemas.openxmlformats.org/officeDocument/2006/relationships/slideLayout" Target="/ppt/slideLayouts/slideLayout6.xml" Id="Ra77d7355557a4e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fc9c00be0a4c2a"/>
    <p:sldLayoutId xmlns:r="http://schemas.openxmlformats.org/officeDocument/2006/relationships" id="2147483650" r:id="Ra672809bd7894c05"/>
    <p:sldLayoutId xmlns:r="http://schemas.openxmlformats.org/officeDocument/2006/relationships" id="2147483651" r:id="R5aad21c0e4bb40db"/>
    <p:sldLayoutId xmlns:r="http://schemas.openxmlformats.org/officeDocument/2006/relationships" id="2147483652" r:id="Rfd9279416ce44a39"/>
    <p:sldLayoutId xmlns:r="http://schemas.openxmlformats.org/officeDocument/2006/relationships" id="2147483653" r:id="Rf8f4631bbe504097"/>
    <p:sldLayoutId xmlns:r="http://schemas.openxmlformats.org/officeDocument/2006/relationships" id="2147483654" r:id="Ra77d7355557a4e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5a30e7f16746b9" /><Relationship Type="http://schemas.openxmlformats.org/officeDocument/2006/relationships/notesSlide" Target="/ppt/notesSlides/notesSlide1.xml" Id="R68ac2a5703d744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781b707a7f41d8" /><Relationship Type="http://schemas.openxmlformats.org/officeDocument/2006/relationships/notesSlide" Target="/ppt/notesSlides/notesSlide2.xml" Id="Rdb6e64bc79e740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323ec09bed4360" /><Relationship Type="http://schemas.openxmlformats.org/officeDocument/2006/relationships/notesSlide" Target="/ppt/notesSlides/notesSlide3.xml" Id="R6eb3d9fabb274d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4e9e92551c448e" /><Relationship Type="http://schemas.openxmlformats.org/officeDocument/2006/relationships/notesSlide" Target="/ppt/notesSlides/notesSlide4.xml" Id="R819cd5757ac741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38e6099dd0431a" /><Relationship Type="http://schemas.openxmlformats.org/officeDocument/2006/relationships/notesSlide" Target="/ppt/notesSlides/notesSlide5.xml" Id="R3fbcf231aeab41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067b0adb4f41c9" /><Relationship Type="http://schemas.openxmlformats.org/officeDocument/2006/relationships/notesSlide" Target="/ppt/notesSlides/notesSlide6.xml" Id="R56fd811ac04d45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CFBC5-F4D4-4BEA-B429-0B880EBC3172}"/>
              </a:ext>
            </a:extLst>
          </p:cNvPr>
          <p:cNvCxnSpPr>
            <a:stCxn xmlns:a="http://schemas.openxmlformats.org/drawingml/2006/main" id="44" idx="2"/>
            <a:endCxn xmlns:a="http://schemas.openxmlformats.org/drawingml/2006/main" id="45" idx="0"/>
          </p:cNvCxnSpPr>
          <p:nvPr/>
        </p:nvCxnSpPr>
        <p:spPr>
          <a:xfrm xmlns:a="http://schemas.openxmlformats.org/drawingml/2006/main">
            <a:off x="5886450" y="3886200"/>
            <a:ext cx="0" cy="104775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5B9CA"/>
            </a:solidFill>
            <a:tailEnd type="triangle" w="sm" len="sm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1DEEF-49F0-4948-BEBC-F7CC3DA4717D}"/>
              </a:ext>
            </a:extLst>
          </p:cNvPr>
          <p:cNvCxnSpPr>
            <a:stCxn xmlns:a="http://schemas.openxmlformats.org/drawingml/2006/main" id="43" idx="2"/>
            <a:endCxn xmlns:a="http://schemas.openxmlformats.org/drawingml/2006/main" id="44" idx="0"/>
          </p:cNvCxnSpPr>
          <p:nvPr/>
        </p:nvCxnSpPr>
        <p:spPr>
          <a:xfrm xmlns:a="http://schemas.openxmlformats.org/drawingml/2006/main">
            <a:off x="5886450" y="3495675"/>
            <a:ext cx="0" cy="104775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5B9CA"/>
            </a:solidFill>
            <a:tailEnd type="triangle" w="sm" len="sm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61FE5-AC46-4021-BE63-E7439F5167FC}"/>
              </a:ext>
            </a:extLst>
          </p:cNvPr>
          <p:cNvCxnSpPr>
            <a:stCxn xmlns:a="http://schemas.openxmlformats.org/drawingml/2006/main" id="28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7764780" y="2190750"/>
            <a:ext cx="16002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C9BB6"/>
            </a:solidFill>
            <a:tailEnd type="triangle" w="sm" len="sm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EF4021-CF8B-48F6-BDDE-80F9AD583547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6785610" y="2190750"/>
            <a:ext cx="16002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C9BB6"/>
            </a:solidFill>
            <a:tailEnd type="triangle" w="sm" len="sm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29692F-AFFF-4A61-ADFE-C0DE308A1C86}"/>
              </a:ext>
            </a:extLst>
          </p:cNvPr>
          <p:cNvCxnSpPr>
            <a:stCxn xmlns:a="http://schemas.openxmlformats.org/drawingml/2006/main" id="22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5806440" y="2190750"/>
            <a:ext cx="16002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C9BB6"/>
            </a:solidFill>
            <a:tailEnd type="triangle" w="sm" len="sm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61358A-6BEB-4E95-B1B4-7539FBF14771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 flipH="0">
            <a:off x="4827270" y="2190750"/>
            <a:ext cx="16002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C9BB6"/>
            </a:solidFill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1679C-E400-4B57-B1B2-DCEA23F46B64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H="0">
            <a:off x="3848100" y="2190750"/>
            <a:ext cx="16002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C9BB6"/>
            </a:solidFill>
            <a:tailEnd type="triangle" w="sm" len="sm"/>
          </a:ln>
        </p:spPr>
      </p:cxnSp>
      <p:sp>
        <p:nvSpPr>
          <p:cNvPr id="9" name="cover-type">
            <a:extLst xmlns:a="http://schemas.openxmlformats.org/drawingml/2006/main">
              <a:ext uri="{FF2B5EF4-FFF2-40B4-BE49-F238E27FC236}">
                <a16:creationId xmlns:a16="http://schemas.microsoft.com/office/drawing/2014/main" id="{1AF9EC83-725B-47D3-B8DC-AC1325C1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中期汇报</a:t>
            </a:r>
          </a:p>
        </p:txBody>
      </p:sp>
      <p:sp>
        <p:nvSpPr>
          <p:cNvPr id="10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B47EA68-EF2E-4279-B7CC-A84F2650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67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漏洞治理流程</a:t>
            </a:r>
          </a:p>
        </p:txBody>
      </p:sp>
      <p:sp>
        <p:nvSpPr>
          <p:cNvPr id="11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C0F1836-9B89-4088-8324-A71D4F57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481" y="6534150"/>
            <a:ext cx="263946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图示为方案示意，数据与截图待填写</a:t>
            </a:r>
          </a:p>
        </p:txBody>
      </p:sp>
      <p:sp>
        <p:nvSpPr>
          <p:cNvPr id="12" name="cover-meta">
            <a:extLst xmlns:a="http://schemas.openxmlformats.org/drawingml/2006/main">
              <a:ext uri="{FF2B5EF4-FFF2-40B4-BE49-F238E27FC236}">
                <a16:creationId xmlns:a16="http://schemas.microsoft.com/office/drawing/2014/main" id="{7DAE3C9A-BE9F-4172-9888-F8976DEF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5341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汇报人：〔姓名〕  |  日期：〔日期〕</a:t>
            </a:r>
          </a:p>
        </p:txBody>
      </p:sp>
      <p:sp>
        <p:nvSpPr>
          <p:cNvPr id="13" name="research-goal-label">
            <a:extLst xmlns:a="http://schemas.openxmlformats.org/drawingml/2006/main">
              <a:ext uri="{FF2B5EF4-FFF2-40B4-BE49-F238E27FC236}">
                <a16:creationId xmlns:a16="http://schemas.microsoft.com/office/drawing/2014/main" id="{907A198E-0DE0-4104-A4FB-D3F57F02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14425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背景、问题与挑战</a:t>
            </a:r>
          </a:p>
        </p:txBody>
      </p:sp>
      <p:sp>
        <p:nvSpPr>
          <p:cNvPr id="14" name="process-heading">
            <a:extLst xmlns:a="http://schemas.openxmlformats.org/drawingml/2006/main">
              <a:ext uri="{FF2B5EF4-FFF2-40B4-BE49-F238E27FC236}">
                <a16:creationId xmlns:a16="http://schemas.microsoft.com/office/drawing/2014/main" id="{F344DEF7-2102-4171-965B-3B1F9AD7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114425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方案设计（示意）</a:t>
            </a:r>
          </a:p>
        </p:txBody>
      </p:sp>
      <p:sp>
        <p:nvSpPr>
          <p:cNvPr id="15" name="step-number-0">
            <a:extLst xmlns:a="http://schemas.openxmlformats.org/drawingml/2006/main">
              <a:ext uri="{FF2B5EF4-FFF2-40B4-BE49-F238E27FC236}">
                <a16:creationId xmlns:a16="http://schemas.microsoft.com/office/drawing/2014/main" id="{3BCB4A2D-3DD2-4ACD-A60C-8DE200BD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09725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业务流程</a:t>
            </a:r>
          </a:p>
        </p:txBody>
      </p:sp>
      <p:sp>
        <p:nvSpPr>
          <p:cNvPr id="16" name="process-step-0">
            <a:extLst xmlns:a="http://schemas.openxmlformats.org/drawingml/2006/main">
              <a:ext uri="{FF2B5EF4-FFF2-40B4-BE49-F238E27FC236}">
                <a16:creationId xmlns:a16="http://schemas.microsoft.com/office/drawing/2014/main" id="{27FB5430-0089-48A7-8DA0-3E3D4D1D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漏洞发现</a:t>
            </a:r>
          </a:p>
        </p:txBody>
      </p:sp>
      <p:sp>
        <p:nvSpPr>
          <p:cNvPr id="17" name="step-output-0">
            <a:extLst xmlns:a="http://schemas.openxmlformats.org/drawingml/2006/main">
              <a:ext uri="{FF2B5EF4-FFF2-40B4-BE49-F238E27FC236}">
                <a16:creationId xmlns:a16="http://schemas.microsoft.com/office/drawing/2014/main" id="{7914EE5B-1D91-4BBC-8A9C-744E8F20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81200"/>
            <a:ext cx="2609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有效代码：〔行数〕行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核心模块：〔数量〕个</a:t>
            </a:r>
          </a:p>
        </p:txBody>
      </p:sp>
      <p:sp>
        <p:nvSpPr>
          <p:cNvPr id="18" name="step-number-1">
            <a:extLst xmlns:a="http://schemas.openxmlformats.org/drawingml/2006/main">
              <a:ext uri="{FF2B5EF4-FFF2-40B4-BE49-F238E27FC236}">
                <a16:creationId xmlns:a16="http://schemas.microsoft.com/office/drawing/2014/main" id="{39B051B9-0F14-4372-AD8A-A4E17BD1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765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系统框架</a:t>
            </a:r>
          </a:p>
        </p:txBody>
      </p:sp>
      <p:sp>
        <p:nvSpPr>
          <p:cNvPr id="19" name="process-step-1">
            <a:extLst xmlns:a="http://schemas.openxmlformats.org/drawingml/2006/main">
              <a:ext uri="{FF2B5EF4-FFF2-40B4-BE49-F238E27FC236}">
                <a16:creationId xmlns:a16="http://schemas.microsoft.com/office/drawing/2014/main" id="{6A6C81BD-2D39-48D9-9BC3-CC328FB0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812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确认归并</a:t>
            </a:r>
          </a:p>
        </p:txBody>
      </p:sp>
      <p:sp>
        <p:nvSpPr>
          <p:cNvPr id="20" name="step-output-1">
            <a:extLst xmlns:a="http://schemas.openxmlformats.org/drawingml/2006/main">
              <a:ext uri="{FF2B5EF4-FFF2-40B4-BE49-F238E27FC236}">
                <a16:creationId xmlns:a16="http://schemas.microsoft.com/office/drawing/2014/main" id="{D4DB135E-3BDD-45AF-8CE0-0D067959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52950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效率提升</a:t>
            </a:r>
          </a:p>
        </p:txBody>
      </p:sp>
      <p:sp>
        <p:nvSpPr>
          <p:cNvPr id="21" name="step-number-2">
            <a:extLst xmlns:a="http://schemas.openxmlformats.org/drawingml/2006/main">
              <a:ext uri="{FF2B5EF4-FFF2-40B4-BE49-F238E27FC236}">
                <a16:creationId xmlns:a16="http://schemas.microsoft.com/office/drawing/2014/main" id="{CBEA57EA-7BF4-4B39-BA99-612EDFDB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52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UML 类图</a:t>
            </a:r>
          </a:p>
        </p:txBody>
      </p:sp>
      <p:sp>
        <p:nvSpPr>
          <p:cNvPr id="22" name="process-step-2">
            <a:extLst xmlns:a="http://schemas.openxmlformats.org/drawingml/2006/main">
              <a:ext uri="{FF2B5EF4-FFF2-40B4-BE49-F238E27FC236}">
                <a16:creationId xmlns:a16="http://schemas.microsoft.com/office/drawing/2014/main" id="{2E8D4629-5182-49B1-A2D4-F1BDA716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729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风险评估</a:t>
            </a:r>
          </a:p>
        </p:txBody>
      </p:sp>
      <p:sp>
        <p:nvSpPr>
          <p:cNvPr id="23" name="step-output-2">
            <a:extLst xmlns:a="http://schemas.openxmlformats.org/drawingml/2006/main">
              <a:ext uri="{FF2B5EF4-FFF2-40B4-BE49-F238E27FC236}">
                <a16:creationId xmlns:a16="http://schemas.microsoft.com/office/drawing/2014/main" id="{9EF16381-01B4-42E3-AF3D-81772253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953000"/>
            <a:ext cx="2609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优化前：〔X〕分钟 / 条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优化后：〔Y〕分钟 / 条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耗时下降：〔百分比〕</a:t>
            </a:r>
          </a:p>
        </p:txBody>
      </p:sp>
      <p:sp>
        <p:nvSpPr>
          <p:cNvPr id="24" name="step-number-3">
            <a:extLst xmlns:a="http://schemas.openxmlformats.org/drawingml/2006/main">
              <a:ext uri="{FF2B5EF4-FFF2-40B4-BE49-F238E27FC236}">
                <a16:creationId xmlns:a16="http://schemas.microsoft.com/office/drawing/2014/main" id="{E512C710-A238-4C53-839D-0BE3A726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52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时序图</a:t>
            </a:r>
          </a:p>
        </p:txBody>
      </p:sp>
      <p:sp>
        <p:nvSpPr>
          <p:cNvPr id="25" name="process-step-3">
            <a:extLst xmlns:a="http://schemas.openxmlformats.org/drawingml/2006/main">
              <a:ext uri="{FF2B5EF4-FFF2-40B4-BE49-F238E27FC236}">
                <a16:creationId xmlns:a16="http://schemas.microsoft.com/office/drawing/2014/main" id="{453AD9FB-EF7E-4BBC-9E72-ED2D1384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646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分派修复</a:t>
            </a:r>
          </a:p>
        </p:txBody>
      </p:sp>
      <p:sp>
        <p:nvSpPr>
          <p:cNvPr id="26" name="step-output-3">
            <a:extLst xmlns:a="http://schemas.openxmlformats.org/drawingml/2006/main">
              <a:ext uri="{FF2B5EF4-FFF2-40B4-BE49-F238E27FC236}">
                <a16:creationId xmlns:a16="http://schemas.microsoft.com/office/drawing/2014/main" id="{575B853F-8F86-46EF-804C-32F50ADD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86450"/>
            <a:ext cx="2609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计算：(X−Y) / X × 100%</a:t>
            </a:r>
          </a:p>
        </p:txBody>
      </p:sp>
      <p:sp>
        <p:nvSpPr>
          <p:cNvPr id="27" name="step-number-4">
            <a:extLst xmlns:a="http://schemas.openxmlformats.org/drawingml/2006/main">
              <a:ext uri="{FF2B5EF4-FFF2-40B4-BE49-F238E27FC236}">
                <a16:creationId xmlns:a16="http://schemas.microsoft.com/office/drawing/2014/main" id="{0B765265-C873-406D-B3F2-EDFDE007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09725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代码量与模块</a:t>
            </a:r>
          </a:p>
        </p:txBody>
      </p:sp>
      <p:sp>
        <p:nvSpPr>
          <p:cNvPr id="28" name="process-step-4">
            <a:extLst xmlns:a="http://schemas.openxmlformats.org/drawingml/2006/main">
              <a:ext uri="{FF2B5EF4-FFF2-40B4-BE49-F238E27FC236}">
                <a16:creationId xmlns:a16="http://schemas.microsoft.com/office/drawing/2014/main" id="{632BCB0B-0562-4732-A77E-EB82B010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563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复测验证</a:t>
            </a:r>
          </a:p>
        </p:txBody>
      </p:sp>
      <p:sp>
        <p:nvSpPr>
          <p:cNvPr id="29" name="step-output-4">
            <a:extLst xmlns:a="http://schemas.openxmlformats.org/drawingml/2006/main">
              <a:ext uri="{FF2B5EF4-FFF2-40B4-BE49-F238E27FC236}">
                <a16:creationId xmlns:a16="http://schemas.microsoft.com/office/drawing/2014/main" id="{D5E41092-EBF5-4754-B65A-B1D7F352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6124575"/>
            <a:ext cx="2609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同口径样本数：〔N〕条</a:t>
            </a:r>
          </a:p>
        </p:txBody>
      </p:sp>
      <p:sp>
        <p:nvSpPr>
          <p:cNvPr id="30" name="step-number-5">
            <a:extLst xmlns:a="http://schemas.openxmlformats.org/drawingml/2006/main">
              <a:ext uri="{FF2B5EF4-FFF2-40B4-BE49-F238E27FC236}">
                <a16:creationId xmlns:a16="http://schemas.microsoft.com/office/drawing/2014/main" id="{8CC44937-3F39-41C4-BE42-491CE136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76550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网页展示</a:t>
            </a:r>
          </a:p>
        </p:txBody>
      </p:sp>
      <p:sp>
        <p:nvSpPr>
          <p:cNvPr id="31" name="process-step-5">
            <a:extLst xmlns:a="http://schemas.openxmlformats.org/drawingml/2006/main">
              <a:ext uri="{FF2B5EF4-FFF2-40B4-BE49-F238E27FC236}">
                <a16:creationId xmlns:a16="http://schemas.microsoft.com/office/drawing/2014/main" id="{5383FECF-F902-42CF-85C6-AFE19D8A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关闭复盘</a:t>
            </a:r>
          </a:p>
        </p:txBody>
      </p:sp>
      <p:sp>
        <p:nvSpPr>
          <p:cNvPr id="32" name="step-output-5">
            <a:extLst xmlns:a="http://schemas.openxmlformats.org/drawingml/2006/main">
              <a:ext uri="{FF2B5EF4-FFF2-40B4-BE49-F238E27FC236}">
                <a16:creationId xmlns:a16="http://schemas.microsoft.com/office/drawing/2014/main" id="{B19D5037-7732-4A89-8C47-FF4F282D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38500"/>
            <a:ext cx="260985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AE4EC"/>
            </a:solidFill>
            <a:prstDash val="dash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〔插入系统网页截图〕</a:t>
            </a:r>
          </a:p>
          <a:p xmlns:a="http://schemas.openxmlformats.org/drawingml/2006/main">
            <a: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〔标注关键页面 / 功能〕</a:t>
            </a:r>
          </a:p>
        </p:txBody>
      </p:sp>
      <p:sp>
        <p:nvSpPr>
          <p:cNvPr id="33" name="process-return-note">
            <a:extLst xmlns:a="http://schemas.openxmlformats.org/drawingml/2006/main">
              <a:ext uri="{FF2B5EF4-FFF2-40B4-BE49-F238E27FC236}">
                <a16:creationId xmlns:a16="http://schemas.microsoft.com/office/drawing/2014/main" id="{FEA2F4C3-7CA6-4085-81D5-7F0A4CFE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66975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复测未通过 → 返回修复；关闭时保留验证证据</a:t>
            </a:r>
          </a:p>
        </p:txBody>
      </p:sp>
      <p:sp>
        <p:nvSpPr>
          <p:cNvPr id="34" name="summary-heading-0">
            <a:extLst xmlns:a="http://schemas.openxmlformats.org/drawingml/2006/main">
              <a:ext uri="{FF2B5EF4-FFF2-40B4-BE49-F238E27FC236}">
                <a16:creationId xmlns:a16="http://schemas.microsoft.com/office/drawing/2014/main" id="{68F96132-926C-46C1-A4AE-43A145D4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972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背景介绍</a:t>
            </a:r>
          </a:p>
        </p:txBody>
      </p:sp>
      <p:sp>
        <p:nvSpPr>
          <p:cNvPr id="35" name="summary-body-0">
            <a:extLst xmlns:a="http://schemas.openxmlformats.org/drawingml/2006/main">
              <a:ext uri="{FF2B5EF4-FFF2-40B4-BE49-F238E27FC236}">
                <a16:creationId xmlns:a16="http://schemas.microsoft.com/office/drawing/2014/main" id="{0D615E0D-D7BA-4B7E-A144-5FA669EB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81200"/>
            <a:ext cx="2247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应用场景：〔填写场景〕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现有流程：〔填写现状〕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研究目标：〔填写目标〕</a:t>
            </a:r>
          </a:p>
        </p:txBody>
      </p:sp>
      <p:sp>
        <p:nvSpPr>
          <p:cNvPr id="36" name="summary-heading-1">
            <a:extLst xmlns:a="http://schemas.openxmlformats.org/drawingml/2006/main">
              <a:ext uri="{FF2B5EF4-FFF2-40B4-BE49-F238E27FC236}">
                <a16:creationId xmlns:a16="http://schemas.microsoft.com/office/drawing/2014/main" id="{B885C644-DF04-4126-A0F9-03DCBA81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94322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问题描述</a:t>
            </a:r>
          </a:p>
        </p:txBody>
      </p:sp>
      <p:sp>
        <p:nvSpPr>
          <p:cNvPr id="37" name="summary-body-1">
            <a:extLst xmlns:a="http://schemas.openxmlformats.org/drawingml/2006/main">
              <a:ext uri="{FF2B5EF4-FFF2-40B4-BE49-F238E27FC236}">
                <a16:creationId xmlns:a16="http://schemas.microsoft.com/office/drawing/2014/main" id="{956D54D6-1A91-4295-A745-41627B06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314700"/>
            <a:ext cx="2247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核心痛点：〔填写问题〕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业务影响：〔填写影响〕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现有不足：〔填写不足〕</a:t>
            </a:r>
          </a:p>
        </p:txBody>
      </p:sp>
      <p:sp>
        <p:nvSpPr>
          <p:cNvPr id="38" name="summary-heading-2">
            <a:extLst xmlns:a="http://schemas.openxmlformats.org/drawingml/2006/main">
              <a:ext uri="{FF2B5EF4-FFF2-40B4-BE49-F238E27FC236}">
                <a16:creationId xmlns:a16="http://schemas.microsoft.com/office/drawing/2014/main" id="{4C90AF1F-0E0E-4ACE-A215-EC47CF93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3719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关键挑战</a:t>
            </a:r>
          </a:p>
        </p:txBody>
      </p:sp>
      <p:sp>
        <p:nvSpPr>
          <p:cNvPr id="39" name="summary-body-2">
            <a:extLst xmlns:a="http://schemas.openxmlformats.org/drawingml/2006/main">
              <a:ext uri="{FF2B5EF4-FFF2-40B4-BE49-F238E27FC236}">
                <a16:creationId xmlns:a16="http://schemas.microsoft.com/office/drawing/2014/main" id="{81D598A9-D299-45F1-A05F-4BF68285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743450"/>
            <a:ext cx="2247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数据：〔接入 / 去重〕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协同：〔分级 / 分派〕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验证：〔闭环 / 留痕〕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集成：〔系统对接〕</a:t>
            </a:r>
          </a:p>
        </p:txBody>
      </p:sp>
      <p:sp>
        <p:nvSpPr>
          <p:cNvPr id="40" name="report-date">
            <a:extLst xmlns:a="http://schemas.openxmlformats.org/drawingml/2006/main">
              <a:ext uri="{FF2B5EF4-FFF2-40B4-BE49-F238E27FC236}">
                <a16:creationId xmlns:a16="http://schemas.microsoft.com/office/drawing/2014/main" id="{1CCBF819-9A8C-4680-AFF5-700BD005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114425"/>
            <a:ext cx="2609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成果输出 / 效果</a:t>
            </a:r>
          </a:p>
        </p:txBody>
      </p:sp>
      <p:sp>
        <p:nvSpPr>
          <p:cNvPr id="41" name="column-divider-left">
            <a:extLst xmlns:a="http://schemas.openxmlformats.org/drawingml/2006/main">
              <a:ext uri="{FF2B5EF4-FFF2-40B4-BE49-F238E27FC236}">
                <a16:creationId xmlns:a16="http://schemas.microsoft.com/office/drawing/2014/main" id="{9E9AA24F-6105-4EF4-BFBE-85A2C729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085850"/>
            <a:ext cx="0" cy="5181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E4EC"/>
            </a:solidFill>
            <a:prstDash val="solid"/>
          </a:ln>
        </p:spPr>
      </p:sp>
      <p:sp>
        <p:nvSpPr>
          <p:cNvPr id="42" name="column-divider-right">
            <a:extLst xmlns:a="http://schemas.openxmlformats.org/drawingml/2006/main">
              <a:ext uri="{FF2B5EF4-FFF2-40B4-BE49-F238E27FC236}">
                <a16:creationId xmlns:a16="http://schemas.microsoft.com/office/drawing/2014/main" id="{5C977CBB-1F27-4AA9-8E10-3CF75A80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085850"/>
            <a:ext cx="0" cy="5181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E4EC"/>
            </a:solidFill>
            <a:prstDash val="solid"/>
          </a:ln>
        </p:spPr>
      </p:sp>
      <p:sp>
        <p:nvSpPr>
          <p:cNvPr id="43" name="architecture-display">
            <a:extLst xmlns:a="http://schemas.openxmlformats.org/drawingml/2006/main">
              <a:ext uri="{FF2B5EF4-FFF2-40B4-BE49-F238E27FC236}">
                <a16:creationId xmlns:a16="http://schemas.microsoft.com/office/drawing/2014/main" id="{2F7DD641-B8C3-4987-8712-D60D880E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571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展示层   资产管理 · 漏洞看板 · 工单页面</a:t>
            </a:r>
          </a:p>
        </p:txBody>
      </p:sp>
      <p:sp>
        <p:nvSpPr>
          <p:cNvPr id="44" name="architecture-service">
            <a:extLst xmlns:a="http://schemas.openxmlformats.org/drawingml/2006/main">
              <a:ext uri="{FF2B5EF4-FFF2-40B4-BE49-F238E27FC236}">
                <a16:creationId xmlns:a16="http://schemas.microsoft.com/office/drawing/2014/main" id="{D1BEED45-D996-4243-BE66-B6D7BCD4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00450"/>
            <a:ext cx="571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服务层   接入归并 · 风险评估 · 处置流转</a:t>
            </a:r>
          </a:p>
        </p:txBody>
      </p:sp>
      <p:sp>
        <p:nvSpPr>
          <p:cNvPr id="45" name="architecture-data">
            <a:extLst xmlns:a="http://schemas.openxmlformats.org/drawingml/2006/main">
              <a:ext uri="{FF2B5EF4-FFF2-40B4-BE49-F238E27FC236}">
                <a16:creationId xmlns:a16="http://schemas.microsoft.com/office/drawing/2014/main" id="{94859B7A-6118-4B7F-8A8B-23FE4EC1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990975"/>
            <a:ext cx="571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数据层   资产 · 漏洞 · 工单 · 审计记录</a:t>
            </a:r>
          </a:p>
        </p:txBody>
      </p:sp>
      <p:sp>
        <p:nvSpPr>
          <p:cNvPr id="46" name="uml-vulnerability-box">
            <a:extLst xmlns:a="http://schemas.openxmlformats.org/drawingml/2006/main">
              <a:ext uri="{FF2B5EF4-FFF2-40B4-BE49-F238E27FC236}">
                <a16:creationId xmlns:a16="http://schemas.microsoft.com/office/drawing/2014/main" id="{47B588A9-CEC1-43B7-A84D-763F1658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933950"/>
            <a:ext cx="11620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B9CA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47" name="uml-ticket-box">
            <a:extLst xmlns:a="http://schemas.openxmlformats.org/drawingml/2006/main">
              <a:ext uri="{FF2B5EF4-FFF2-40B4-BE49-F238E27FC236}">
                <a16:creationId xmlns:a16="http://schemas.microsoft.com/office/drawing/2014/main" id="{A231F478-65C2-4C19-8798-99726D7B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33950"/>
            <a:ext cx="11620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B9CA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48" name="uml-vulnerability-title">
            <a:extLst xmlns:a="http://schemas.openxmlformats.org/drawingml/2006/main">
              <a:ext uri="{FF2B5EF4-FFF2-40B4-BE49-F238E27FC236}">
                <a16:creationId xmlns:a16="http://schemas.microsoft.com/office/drawing/2014/main" id="{FF978E55-DD5F-49B1-9801-E1BE4BEF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81575"/>
            <a:ext cx="1009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漏洞</a:t>
            </a:r>
          </a:p>
        </p:txBody>
      </p:sp>
      <p:sp>
        <p:nvSpPr>
          <p:cNvPr id="49" name="uml-ticket-title">
            <a:extLst xmlns:a="http://schemas.openxmlformats.org/drawingml/2006/main">
              <a:ext uri="{FF2B5EF4-FFF2-40B4-BE49-F238E27FC236}">
                <a16:creationId xmlns:a16="http://schemas.microsoft.com/office/drawing/2014/main" id="{4A6BD4AA-5624-4BC6-9C49-73E9851F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981575"/>
            <a:ext cx="1009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工单</a:t>
            </a:r>
          </a:p>
        </p:txBody>
      </p:sp>
      <p:sp>
        <p:nvSpPr>
          <p:cNvPr id="50" name="uml-vulnerability-rule">
            <a:extLst xmlns:a="http://schemas.openxmlformats.org/drawingml/2006/main">
              <a:ext uri="{FF2B5EF4-FFF2-40B4-BE49-F238E27FC236}">
                <a16:creationId xmlns:a16="http://schemas.microsoft.com/office/drawing/2014/main" id="{7AC2570D-3ECA-483E-930B-DBC140D5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67325"/>
            <a:ext cx="1162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5B9CA"/>
            </a:solidFill>
            <a:prstDash val="solid"/>
          </a:ln>
        </p:spPr>
      </p:sp>
      <p:sp>
        <p:nvSpPr>
          <p:cNvPr id="51" name="uml-ticket-rule">
            <a:extLst xmlns:a="http://schemas.openxmlformats.org/drawingml/2006/main">
              <a:ext uri="{FF2B5EF4-FFF2-40B4-BE49-F238E27FC236}">
                <a16:creationId xmlns:a16="http://schemas.microsoft.com/office/drawing/2014/main" id="{C079FB66-C2FA-43CD-9487-12E65FB0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67325"/>
            <a:ext cx="1162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5B9CA"/>
            </a:solidFill>
            <a:prstDash val="solid"/>
          </a:ln>
        </p:spPr>
      </p:sp>
      <p:sp>
        <p:nvSpPr>
          <p:cNvPr id="52" name="uml-vulnerability-fields">
            <a:extLst xmlns:a="http://schemas.openxmlformats.org/drawingml/2006/main">
              <a:ext uri="{FF2B5EF4-FFF2-40B4-BE49-F238E27FC236}">
                <a16:creationId xmlns:a16="http://schemas.microsoft.com/office/drawing/2014/main" id="{3503B850-5E7F-4422-845B-0BE1541D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53050"/>
            <a:ext cx="9334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编号</a:t>
            </a:r>
          </a:p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风险等级</a:t>
            </a:r>
          </a:p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处置状态</a:t>
            </a:r>
          </a:p>
        </p:txBody>
      </p:sp>
      <p:sp>
        <p:nvSpPr>
          <p:cNvPr id="53" name="uml-ticket-fields">
            <a:extLst xmlns:a="http://schemas.openxmlformats.org/drawingml/2006/main">
              <a:ext uri="{FF2B5EF4-FFF2-40B4-BE49-F238E27FC236}">
                <a16:creationId xmlns:a16="http://schemas.microsoft.com/office/drawing/2014/main" id="{2539F932-681A-402E-BC86-3EDE3DB6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53050"/>
            <a:ext cx="9334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责任人</a:t>
            </a:r>
          </a:p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截止时间</a:t>
            </a:r>
          </a:p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复测结果</a:t>
            </a:r>
          </a:p>
        </p:txBody>
      </p:sp>
      <p:sp>
        <p:nvSpPr>
          <p:cNvPr id="54" name="uml-association">
            <a:extLst xmlns:a="http://schemas.openxmlformats.org/drawingml/2006/main">
              <a:ext uri="{FF2B5EF4-FFF2-40B4-BE49-F238E27FC236}">
                <a16:creationId xmlns:a16="http://schemas.microsoft.com/office/drawing/2014/main" id="{33D31F04-96E0-484D-9DE1-71A5C8A2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524500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5B9CA"/>
            </a:solidFill>
            <a:prstDash val="solid"/>
          </a:ln>
        </p:spPr>
      </p:sp>
      <p:sp>
        <p:nvSpPr>
          <p:cNvPr id="55" name="uml-multiplicity-one">
            <a:extLst xmlns:a="http://schemas.openxmlformats.org/drawingml/2006/main">
              <a:ext uri="{FF2B5EF4-FFF2-40B4-BE49-F238E27FC236}">
                <a16:creationId xmlns:a16="http://schemas.microsoft.com/office/drawing/2014/main" id="{9509DA96-F2E1-471F-A4E2-6CF8DE47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5324475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56" name="uml-multiplicity-many">
            <a:extLst xmlns:a="http://schemas.openxmlformats.org/drawingml/2006/main">
              <a:ext uri="{FF2B5EF4-FFF2-40B4-BE49-F238E27FC236}">
                <a16:creationId xmlns:a16="http://schemas.microsoft.com/office/drawing/2014/main" id="{4F99104B-2145-416C-9471-ADEC3FDB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324475"/>
            <a:ext cx="114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*</a:t>
            </a:r>
          </a:p>
        </p:txBody>
      </p:sp>
      <p:sp>
        <p:nvSpPr>
          <p:cNvPr id="57" name="sequence-actor-0">
            <a:extLst xmlns:a="http://schemas.openxmlformats.org/drawingml/2006/main">
              <a:ext uri="{FF2B5EF4-FFF2-40B4-BE49-F238E27FC236}">
                <a16:creationId xmlns:a16="http://schemas.microsoft.com/office/drawing/2014/main" id="{47B85EE8-2C96-495B-B364-4EBEC9E3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93395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提交者</a:t>
            </a:r>
          </a:p>
        </p:txBody>
      </p:sp>
      <p:sp>
        <p:nvSpPr>
          <p:cNvPr id="58" name="sequence-lifeline-0">
            <a:extLst xmlns:a="http://schemas.openxmlformats.org/drawingml/2006/main">
              <a:ext uri="{FF2B5EF4-FFF2-40B4-BE49-F238E27FC236}">
                <a16:creationId xmlns:a16="http://schemas.microsoft.com/office/drawing/2014/main" id="{3B4519C2-DC05-4BD1-AF52-82675FBE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29225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5B9CA"/>
            </a:solidFill>
            <a:prstDash val="dash"/>
          </a:ln>
        </p:spPr>
      </p:sp>
      <p:sp>
        <p:nvSpPr>
          <p:cNvPr id="59" name="sequence-actor-1">
            <a:extLst xmlns:a="http://schemas.openxmlformats.org/drawingml/2006/main">
              <a:ext uri="{FF2B5EF4-FFF2-40B4-BE49-F238E27FC236}">
                <a16:creationId xmlns:a16="http://schemas.microsoft.com/office/drawing/2014/main" id="{2AB7CFA8-1445-42DC-83A4-6FC5F1F4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93395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60" name="sequence-lifeline-1">
            <a:extLst xmlns:a="http://schemas.openxmlformats.org/drawingml/2006/main">
              <a:ext uri="{FF2B5EF4-FFF2-40B4-BE49-F238E27FC236}">
                <a16:creationId xmlns:a16="http://schemas.microsoft.com/office/drawing/2014/main" id="{AD319958-ADA8-47BA-AC76-3A92A17D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229225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5B9CA"/>
            </a:solidFill>
            <a:prstDash val="dash"/>
          </a:ln>
        </p:spPr>
      </p:sp>
      <p:sp>
        <p:nvSpPr>
          <p:cNvPr id="61" name="sequence-actor-2">
            <a:extLst xmlns:a="http://schemas.openxmlformats.org/drawingml/2006/main">
              <a:ext uri="{FF2B5EF4-FFF2-40B4-BE49-F238E27FC236}">
                <a16:creationId xmlns:a16="http://schemas.microsoft.com/office/drawing/2014/main" id="{E5FE963A-4516-49B6-8CBB-CDC89E17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3395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处理人</a:t>
            </a:r>
          </a:p>
        </p:txBody>
      </p:sp>
      <p:sp>
        <p:nvSpPr>
          <p:cNvPr id="62" name="sequence-lifeline-2">
            <a:extLst xmlns:a="http://schemas.openxmlformats.org/drawingml/2006/main">
              <a:ext uri="{FF2B5EF4-FFF2-40B4-BE49-F238E27FC236}">
                <a16:creationId xmlns:a16="http://schemas.microsoft.com/office/drawing/2014/main" id="{0F5A12C0-D979-462D-9C7D-62A1EBE2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229225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5B9CA"/>
            </a:solidFill>
            <a:prstDash val="dash"/>
          </a:ln>
        </p:spPr>
      </p:sp>
      <p:cxnSp>
        <p:nvCxnSpPr>
          <p:cNvPr id="63" name="sequence-report">
            <a:extLst xmlns:a="http://schemas.openxmlformats.org/drawingml/2006/main">
              <a:ext uri="{FF2B5EF4-FFF2-40B4-BE49-F238E27FC236}">
                <a16:creationId xmlns:a16="http://schemas.microsoft.com/office/drawing/2014/main" id="{61AD216F-176F-4B94-BAF1-64E6E76B76DB}"/>
              </a:ext>
            </a:extLst>
          </p:cNvPr>
          <p:cNvCxnSpPr/>
          <p:nvPr/>
        </p:nvCxnSpPr>
        <p:spPr>
          <a:xfrm xmlns:a="http://schemas.openxmlformats.org/drawingml/2006/main">
            <a:off x="6419850" y="5381625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5B9CA"/>
            </a:solidFill>
            <a:tailEnd type="triangle" w="sm" len="sm"/>
          </a:ln>
        </p:spPr>
      </p:cxnSp>
      <p:sp>
        <p:nvSpPr>
          <p:cNvPr id="64" name="sequence-report-label">
            <a:extLst xmlns:a="http://schemas.openxmlformats.org/drawingml/2006/main">
              <a:ext uri="{FF2B5EF4-FFF2-40B4-BE49-F238E27FC236}">
                <a16:creationId xmlns:a16="http://schemas.microsoft.com/office/drawing/2014/main" id="{281C3C79-25D1-4B72-994A-0D025111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9112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上报</a:t>
            </a:r>
          </a:p>
        </p:txBody>
      </p:sp>
      <p:cxnSp>
        <p:nvCxnSpPr>
          <p:cNvPr id="65" name="sequence-assign">
            <a:extLst xmlns:a="http://schemas.openxmlformats.org/drawingml/2006/main">
              <a:ext uri="{FF2B5EF4-FFF2-40B4-BE49-F238E27FC236}">
                <a16:creationId xmlns:a16="http://schemas.microsoft.com/office/drawing/2014/main" id="{80336C0D-AB51-489D-8A2B-F3A634A9F2CD}"/>
              </a:ext>
            </a:extLst>
          </p:cNvPr>
          <p:cNvCxnSpPr/>
          <p:nvPr/>
        </p:nvCxnSpPr>
        <p:spPr>
          <a:xfrm xmlns:a="http://schemas.openxmlformats.org/drawingml/2006/main">
            <a:off x="7410450" y="5610225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5B9CA"/>
            </a:solidFill>
            <a:tailEnd type="triangle" w="sm" len="sm"/>
          </a:ln>
        </p:spPr>
      </p:cxnSp>
      <p:sp>
        <p:nvSpPr>
          <p:cNvPr id="66" name="sequence-assign-label">
            <a:extLst xmlns:a="http://schemas.openxmlformats.org/drawingml/2006/main">
              <a:ext uri="{FF2B5EF4-FFF2-40B4-BE49-F238E27FC236}">
                <a16:creationId xmlns:a16="http://schemas.microsoft.com/office/drawing/2014/main" id="{46FF45FB-E53D-4AD5-9433-93F0F1C6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41972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分派</a:t>
            </a:r>
          </a:p>
        </p:txBody>
      </p:sp>
      <p:cxnSp>
        <p:nvCxnSpPr>
          <p:cNvPr id="67" name="sequence-result">
            <a:extLst xmlns:a="http://schemas.openxmlformats.org/drawingml/2006/main">
              <a:ext uri="{FF2B5EF4-FFF2-40B4-BE49-F238E27FC236}">
                <a16:creationId xmlns:a16="http://schemas.microsoft.com/office/drawing/2014/main" id="{6ECF9030-269D-4D37-B3B3-7BBCC23A1F71}"/>
              </a:ext>
            </a:extLst>
          </p:cNvPr>
          <p:cNvCxnSpPr/>
          <p:nvPr/>
        </p:nvCxnSpPr>
        <p:spPr>
          <a:xfrm xmlns:a="http://schemas.openxmlformats.org/drawingml/2006/main" flipH="1">
            <a:off x="7410450" y="5838825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5B9CA"/>
            </a:solidFill>
            <a:tailEnd type="triangle" w="sm" len="sm"/>
          </a:ln>
        </p:spPr>
      </p:cxnSp>
      <p:sp>
        <p:nvSpPr>
          <p:cNvPr id="68" name="sequence-result-label">
            <a:extLst xmlns:a="http://schemas.openxmlformats.org/drawingml/2006/main">
              <a:ext uri="{FF2B5EF4-FFF2-40B4-BE49-F238E27FC236}">
                <a16:creationId xmlns:a16="http://schemas.microsoft.com/office/drawing/2014/main" id="{AA64BD3A-5990-4671-A0F6-EF18149F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64832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回传</a:t>
            </a:r>
          </a:p>
        </p:txBody>
      </p:sp>
      <p:cxnSp>
        <p:nvCxnSpPr>
          <p:cNvPr id="69" name="sequence-close">
            <a:extLst xmlns:a="http://schemas.openxmlformats.org/drawingml/2006/main">
              <a:ext uri="{FF2B5EF4-FFF2-40B4-BE49-F238E27FC236}">
                <a16:creationId xmlns:a16="http://schemas.microsoft.com/office/drawing/2014/main" id="{5C9DC076-3A32-4922-81DF-00279B10BFAE}"/>
              </a:ext>
            </a:extLst>
          </p:cNvPr>
          <p:cNvCxnSpPr/>
          <p:nvPr/>
        </p:nvCxnSpPr>
        <p:spPr>
          <a:xfrm xmlns:a="http://schemas.openxmlformats.org/drawingml/2006/main" flipH="1">
            <a:off x="6419850" y="6067425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5B9CA"/>
            </a:solidFill>
            <a:tailEnd type="triangle" w="sm" len="sm"/>
          </a:ln>
        </p:spPr>
      </p:cxnSp>
      <p:sp>
        <p:nvSpPr>
          <p:cNvPr id="70" name="sequence-close-label">
            <a:extLst xmlns:a="http://schemas.openxmlformats.org/drawingml/2006/main">
              <a:ext uri="{FF2B5EF4-FFF2-40B4-BE49-F238E27FC236}">
                <a16:creationId xmlns:a16="http://schemas.microsoft.com/office/drawing/2014/main" id="{915B1A07-3109-4533-BB3C-B62EADB7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7692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确认</a:t>
            </a:r>
          </a:p>
        </p:txBody>
      </p:sp>
    </p:spTree>
    <p:extLst>
      <p:ext uri="{BB962C8B-B14F-4D97-AF65-F5344CB8AC3E}">
        <p14:creationId xmlns:p14="http://schemas.microsoft.com/office/powerpoint/2010/main" val="1864637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0F075-B13B-4316-990F-ADA0E1AC78B4}"/>
              </a:ext>
            </a:extLst>
          </p:cNvPr>
          <p:cNvCxnSpPr>
            <a:stCxn xmlns:a="http://schemas.openxmlformats.org/drawingml/2006/main" id="30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3038475" y="4619625"/>
            <a:ext cx="0" cy="76200"/>
          </a:xfrm>
          <a:prstGeom xmlns:a="http://schemas.openxmlformats.org/drawingml/2006/main" prst="straightConnector1">
            <a:avLst/>
          </a:prstGeom>
          <a:ln xmlns:a="http://schemas.openxmlformats.org/drawingml/2006/main" w="10478">
            <a:solidFill>
              <a:srgbClr val="99B8B5"/>
            </a:solidFill>
            <a:tailEnd type="triangle" w="sm" len="sm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3EFAE4-30A5-4C4C-BF6F-9A9AF7BC1B96}"/>
              </a:ext>
            </a:extLst>
          </p:cNvPr>
          <p:cNvCxnSpPr>
            <a:stCxn xmlns:a="http://schemas.openxmlformats.org/drawingml/2006/main" id="29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3038475" y="4314825"/>
            <a:ext cx="0" cy="76200"/>
          </a:xfrm>
          <a:prstGeom xmlns:a="http://schemas.openxmlformats.org/drawingml/2006/main" prst="straightConnector1">
            <a:avLst/>
          </a:prstGeom>
          <a:ln xmlns:a="http://schemas.openxmlformats.org/drawingml/2006/main" w="10478">
            <a:solidFill>
              <a:srgbClr val="99B8B5"/>
            </a:solidFill>
            <a:tailEnd type="triangle" w="sm" len="sm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1F874E-2F84-46DF-9944-9DD0AD31E310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781550" y="32480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99B8B5"/>
            </a:solidFill>
            <a:tailEnd type="triangle" w="sm" len="sm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B4EA55-7CBE-4B3B-8A87-14A7993E7CF6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3867150" y="32480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99B8B5"/>
            </a:solidFill>
            <a:tailEnd type="triangle" w="sm" len="sm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F099FF-5017-42AB-BC43-077973778B25}"/>
              </a:ext>
            </a:extLst>
          </p:cNvPr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2952750" y="32480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99B8B5"/>
            </a:solidFill>
            <a:tailEnd type="triangle" w="sm" len="sm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A25831-151F-4AAE-A310-0196B7A5584F}"/>
              </a:ext>
            </a:extLst>
          </p:cNvPr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038350" y="32480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99B8B5"/>
            </a:solidFill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E6C77E-95C2-420B-9E25-5B7EF1AB5591}"/>
              </a:ext>
            </a:extLst>
          </p:cNvPr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123950" y="32480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99B8B5"/>
            </a:solidFill>
            <a:tailEnd type="triangle" w="sm" len="sm"/>
          </a:ln>
        </p:spPr>
      </p:cxnSp>
      <p:sp>
        <p:nvSpPr>
          <p:cNvPr id="9" name="v2-title">
            <a:extLst xmlns:a="http://schemas.openxmlformats.org/drawingml/2006/main">
              <a:ext uri="{FF2B5EF4-FFF2-40B4-BE49-F238E27FC236}">
                <a16:creationId xmlns:a16="http://schemas.microsoft.com/office/drawing/2014/main" id="{63F12687-599C-46E5-B714-CF0B87CB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67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漏洞治理流程</a:t>
            </a:r>
          </a:p>
        </p:txBody>
      </p:sp>
      <p:sp>
        <p:nvSpPr>
          <p:cNvPr id="10" name="v2-type">
            <a:extLst xmlns:a="http://schemas.openxmlformats.org/drawingml/2006/main">
              <a:ext uri="{FF2B5EF4-FFF2-40B4-BE49-F238E27FC236}">
                <a16:creationId xmlns:a16="http://schemas.microsoft.com/office/drawing/2014/main" id="{6971EED7-0E3C-4EDE-BD73-E2A8EB37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910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rPr>
              <a:t>中期汇报 · 方案二</a:t>
            </a:r>
          </a:p>
        </p:txBody>
      </p:sp>
      <p:sp>
        <p:nvSpPr>
          <p:cNvPr id="11" name="v2-context-heading-0">
            <a:extLst xmlns:a="http://schemas.openxmlformats.org/drawingml/2006/main">
              <a:ext uri="{FF2B5EF4-FFF2-40B4-BE49-F238E27FC236}">
                <a16:creationId xmlns:a16="http://schemas.microsoft.com/office/drawing/2014/main" id="{96BB659C-030C-46CA-88AB-54BC2CB30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23950"/>
            <a:ext cx="3657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rPr>
              <a:t>背景介绍</a:t>
            </a:r>
          </a:p>
        </p:txBody>
      </p:sp>
      <p:sp>
        <p:nvSpPr>
          <p:cNvPr id="12" name="v2-context-body-0">
            <a:extLst xmlns:a="http://schemas.openxmlformats.org/drawingml/2006/main">
              <a:ext uri="{FF2B5EF4-FFF2-40B4-BE49-F238E27FC236}">
                <a16:creationId xmlns:a16="http://schemas.microsoft.com/office/drawing/2014/main" id="{C09BB19B-5328-4102-80E9-82CC6E8B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504950"/>
            <a:ext cx="3657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应用场景：〔填写场景与对象〕</a:t>
            </a:r>
          </a:p>
          <a:p xmlns:a="http://schemas.openxmlformats.org/drawingml/2006/main">
            <a: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治理现状：〔填写现状与目标〕</a:t>
            </a:r>
          </a:p>
        </p:txBody>
      </p:sp>
      <p:sp>
        <p:nvSpPr>
          <p:cNvPr id="13" name="v2-context-heading-1">
            <a:extLst xmlns:a="http://schemas.openxmlformats.org/drawingml/2006/main">
              <a:ext uri="{FF2B5EF4-FFF2-40B4-BE49-F238E27FC236}">
                <a16:creationId xmlns:a16="http://schemas.microsoft.com/office/drawing/2014/main" id="{C0F60A03-2279-4422-982A-A4D7FB4A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123950"/>
            <a:ext cx="3657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rPr>
              <a:t>问题描述</a:t>
            </a:r>
          </a:p>
        </p:txBody>
      </p:sp>
      <p:sp>
        <p:nvSpPr>
          <p:cNvPr id="14" name="v2-context-body-1">
            <a:extLst xmlns:a="http://schemas.openxmlformats.org/drawingml/2006/main">
              <a:ext uri="{FF2B5EF4-FFF2-40B4-BE49-F238E27FC236}">
                <a16:creationId xmlns:a16="http://schemas.microsoft.com/office/drawing/2014/main" id="{5E851951-5D2F-4CE9-8AC3-F8B62CA1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04950"/>
            <a:ext cx="3657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核心痛点：〔填写主要问题〕</a:t>
            </a:r>
          </a:p>
          <a:p xmlns:a="http://schemas.openxmlformats.org/drawingml/2006/main">
            <a: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业务影响：〔影响范围与后果〕</a:t>
            </a:r>
          </a:p>
        </p:txBody>
      </p:sp>
      <p:sp>
        <p:nvSpPr>
          <p:cNvPr id="15" name="v2-context-heading-2">
            <a:extLst xmlns:a="http://schemas.openxmlformats.org/drawingml/2006/main">
              <a:ext uri="{FF2B5EF4-FFF2-40B4-BE49-F238E27FC236}">
                <a16:creationId xmlns:a16="http://schemas.microsoft.com/office/drawing/2014/main" id="{ED40AD96-ED18-4E28-8933-C2404A1D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123950"/>
            <a:ext cx="3657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7E80"/>
                </a:solidFill>
                <a:latin typeface="PingFang SC"/>
                <a:ea typeface="PingFang SC"/>
                <a:cs typeface="PingFang SC"/>
              </a:rPr>
              <a:t>关键挑战</a:t>
            </a:r>
          </a:p>
        </p:txBody>
      </p:sp>
      <p:sp>
        <p:nvSpPr>
          <p:cNvPr id="16" name="v2-context-body-2">
            <a:extLst xmlns:a="http://schemas.openxmlformats.org/drawingml/2006/main">
              <a:ext uri="{FF2B5EF4-FFF2-40B4-BE49-F238E27FC236}">
                <a16:creationId xmlns:a16="http://schemas.microsoft.com/office/drawing/2014/main" id="{3E42BCA5-D40D-4CFA-9385-7F9C74D6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3657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数据接入 / 流程协同 / 复测闭环</a:t>
            </a:r>
          </a:p>
          <a:p xmlns:a="http://schemas.openxmlformats.org/drawingml/2006/main">
            <a: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〔填写本课题的关键技术难点〕</a:t>
            </a:r>
          </a:p>
        </p:txBody>
      </p:sp>
      <p:sp>
        <p:nvSpPr>
          <p:cNvPr id="17" name="v2-context-rule">
            <a:extLst xmlns:a="http://schemas.openxmlformats.org/drawingml/2006/main">
              <a:ext uri="{FF2B5EF4-FFF2-40B4-BE49-F238E27FC236}">
                <a16:creationId xmlns:a16="http://schemas.microsoft.com/office/drawing/2014/main" id="{16F9C8A8-5D09-4E5A-903B-986124C0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6E3"/>
            </a:solidFill>
            <a:prstDash val="solid"/>
          </a:ln>
        </p:spPr>
      </p:sp>
      <p:sp>
        <p:nvSpPr>
          <p:cNvPr id="18" name="v2-design-heading">
            <a:extLst xmlns:a="http://schemas.openxmlformats.org/drawingml/2006/main">
              <a:ext uri="{FF2B5EF4-FFF2-40B4-BE49-F238E27FC236}">
                <a16:creationId xmlns:a16="http://schemas.microsoft.com/office/drawing/2014/main" id="{39188CD1-2F8C-4259-9C09-91178F1F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43150"/>
            <a:ext cx="1143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rPr>
              <a:t>方案设计（示意）</a:t>
            </a:r>
          </a:p>
        </p:txBody>
      </p:sp>
      <p:sp>
        <p:nvSpPr>
          <p:cNvPr id="19" name="v2-design-divider">
            <a:extLst xmlns:a="http://schemas.openxmlformats.org/drawingml/2006/main">
              <a:ext uri="{FF2B5EF4-FFF2-40B4-BE49-F238E27FC236}">
                <a16:creationId xmlns:a16="http://schemas.microsoft.com/office/drawing/2014/main" id="{0697DD2F-CB5D-4124-8BEE-63958DF2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743200"/>
            <a:ext cx="0" cy="2152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6E3"/>
            </a:solidFill>
            <a:prstDash val="solid"/>
          </a:ln>
        </p:spPr>
      </p:sp>
      <p:sp>
        <p:nvSpPr>
          <p:cNvPr id="20" name="v2-flow-heading">
            <a:extLst xmlns:a="http://schemas.openxmlformats.org/drawingml/2006/main">
              <a:ext uri="{FF2B5EF4-FFF2-40B4-BE49-F238E27FC236}">
                <a16:creationId xmlns:a16="http://schemas.microsoft.com/office/drawing/2014/main" id="{9045B846-3DC0-4233-ACE0-A00DEB90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762250"/>
            <a:ext cx="5314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业务流程</a:t>
            </a:r>
          </a:p>
        </p:txBody>
      </p:sp>
      <p:sp>
        <p:nvSpPr>
          <p:cNvPr id="21" name="v2-flow-step-0">
            <a:extLst xmlns:a="http://schemas.openxmlformats.org/drawingml/2006/main">
              <a:ext uri="{FF2B5EF4-FFF2-40B4-BE49-F238E27FC236}">
                <a16:creationId xmlns:a16="http://schemas.microsoft.com/office/drawing/2014/main" id="{3A4F7F8C-17B5-4BEE-AFDF-D0C3951D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076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漏洞发现</a:t>
            </a:r>
          </a:p>
        </p:txBody>
      </p:sp>
      <p:sp>
        <p:nvSpPr>
          <p:cNvPr id="22" name="v2-flow-step-1">
            <a:extLst xmlns:a="http://schemas.openxmlformats.org/drawingml/2006/main">
              <a:ext uri="{FF2B5EF4-FFF2-40B4-BE49-F238E27FC236}">
                <a16:creationId xmlns:a16="http://schemas.microsoft.com/office/drawing/2014/main" id="{12E11724-55F3-4B76-A79D-3654FC4B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76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确认归并</a:t>
            </a:r>
          </a:p>
        </p:txBody>
      </p:sp>
      <p:sp>
        <p:nvSpPr>
          <p:cNvPr id="23" name="v2-flow-step-2">
            <a:extLst xmlns:a="http://schemas.openxmlformats.org/drawingml/2006/main">
              <a:ext uri="{FF2B5EF4-FFF2-40B4-BE49-F238E27FC236}">
                <a16:creationId xmlns:a16="http://schemas.microsoft.com/office/drawing/2014/main" id="{CEBFAA10-FCA9-4968-A09A-0AF38919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76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风险评估</a:t>
            </a:r>
          </a:p>
        </p:txBody>
      </p:sp>
      <p:sp>
        <p:nvSpPr>
          <p:cNvPr id="24" name="v2-flow-step-3">
            <a:extLst xmlns:a="http://schemas.openxmlformats.org/drawingml/2006/main">
              <a:ext uri="{FF2B5EF4-FFF2-40B4-BE49-F238E27FC236}">
                <a16:creationId xmlns:a16="http://schemas.microsoft.com/office/drawing/2014/main" id="{950ACE24-517A-4F31-9B62-ED865273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76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分派修复</a:t>
            </a:r>
          </a:p>
        </p:txBody>
      </p:sp>
      <p:sp>
        <p:nvSpPr>
          <p:cNvPr id="25" name="v2-flow-step-4">
            <a:extLst xmlns:a="http://schemas.openxmlformats.org/drawingml/2006/main">
              <a:ext uri="{FF2B5EF4-FFF2-40B4-BE49-F238E27FC236}">
                <a16:creationId xmlns:a16="http://schemas.microsoft.com/office/drawing/2014/main" id="{A68DC645-99EC-4FD6-9D44-C356C57D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76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复测验证</a:t>
            </a:r>
          </a:p>
        </p:txBody>
      </p:sp>
      <p:sp>
        <p:nvSpPr>
          <p:cNvPr id="26" name="v2-flow-step-5">
            <a:extLst xmlns:a="http://schemas.openxmlformats.org/drawingml/2006/main">
              <a:ext uri="{FF2B5EF4-FFF2-40B4-BE49-F238E27FC236}">
                <a16:creationId xmlns:a16="http://schemas.microsoft.com/office/drawing/2014/main" id="{A089199D-5EE0-4D89-B5EE-EE9548CE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76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关闭复盘</a:t>
            </a:r>
          </a:p>
        </p:txBody>
      </p:sp>
      <p:sp>
        <p:nvSpPr>
          <p:cNvPr id="27" name="v2-flow-note">
            <a:extLst xmlns:a="http://schemas.openxmlformats.org/drawingml/2006/main">
              <a:ext uri="{FF2B5EF4-FFF2-40B4-BE49-F238E27FC236}">
                <a16:creationId xmlns:a16="http://schemas.microsoft.com/office/drawing/2014/main" id="{682238F6-A5AD-441B-8F08-D6A52B75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495675"/>
            <a:ext cx="531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163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复测未通过 → 返回修复；关闭时保留验证证据</a:t>
            </a:r>
          </a:p>
        </p:txBody>
      </p:sp>
      <p:sp>
        <p:nvSpPr>
          <p:cNvPr id="28" name="v2-architecture-heading">
            <a:extLst xmlns:a="http://schemas.openxmlformats.org/drawingml/2006/main">
              <a:ext uri="{FF2B5EF4-FFF2-40B4-BE49-F238E27FC236}">
                <a16:creationId xmlns:a16="http://schemas.microsoft.com/office/drawing/2014/main" id="{7DC082C4-B356-490B-86D4-F25E2495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00475"/>
            <a:ext cx="5314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系统框架</a:t>
            </a:r>
          </a:p>
        </p:txBody>
      </p:sp>
      <p:sp>
        <p:nvSpPr>
          <p:cNvPr id="29" name="v2-architecture-layer-0">
            <a:extLst xmlns:a="http://schemas.openxmlformats.org/drawingml/2006/main">
              <a:ext uri="{FF2B5EF4-FFF2-40B4-BE49-F238E27FC236}">
                <a16:creationId xmlns:a16="http://schemas.microsoft.com/office/drawing/2014/main" id="{DC1CCD9A-C0BA-4233-888B-14E57248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86225"/>
            <a:ext cx="531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展示层   资产管理 · 漏洞看板 · 工单页面</a:t>
            </a:r>
          </a:p>
        </p:txBody>
      </p:sp>
      <p:sp>
        <p:nvSpPr>
          <p:cNvPr id="30" name="v2-architecture-layer-1">
            <a:extLst xmlns:a="http://schemas.openxmlformats.org/drawingml/2006/main">
              <a:ext uri="{FF2B5EF4-FFF2-40B4-BE49-F238E27FC236}">
                <a16:creationId xmlns:a16="http://schemas.microsoft.com/office/drawing/2014/main" id="{406C17FB-2972-4079-9032-96D02E9D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391025"/>
            <a:ext cx="531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服务层   接入归并 · 风险评估 · 处置流转</a:t>
            </a:r>
          </a:p>
        </p:txBody>
      </p:sp>
      <p:sp>
        <p:nvSpPr>
          <p:cNvPr id="31" name="v2-architecture-layer-2">
            <a:extLst xmlns:a="http://schemas.openxmlformats.org/drawingml/2006/main">
              <a:ext uri="{FF2B5EF4-FFF2-40B4-BE49-F238E27FC236}">
                <a16:creationId xmlns:a16="http://schemas.microsoft.com/office/drawing/2014/main" id="{C0E120D8-00D3-4889-87BC-0C379B5B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695825"/>
            <a:ext cx="531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数据层   资产 · 漏洞 · 工单 · 审计记录</a:t>
            </a:r>
          </a:p>
        </p:txBody>
      </p:sp>
      <p:sp>
        <p:nvSpPr>
          <p:cNvPr id="32" name="v2-uml-heading">
            <a:extLst xmlns:a="http://schemas.openxmlformats.org/drawingml/2006/main">
              <a:ext uri="{FF2B5EF4-FFF2-40B4-BE49-F238E27FC236}">
                <a16:creationId xmlns:a16="http://schemas.microsoft.com/office/drawing/2014/main" id="{716017EF-F7C7-4C5B-836D-4A0FD4DA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62250"/>
            <a:ext cx="2590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UML 类图</a:t>
            </a:r>
          </a:p>
        </p:txBody>
      </p:sp>
      <p:sp>
        <p:nvSpPr>
          <p:cNvPr id="33" name="v2-uml-vulnerability-frame">
            <a:extLst xmlns:a="http://schemas.openxmlformats.org/drawingml/2006/main">
              <a:ext uri="{FF2B5EF4-FFF2-40B4-BE49-F238E27FC236}">
                <a16:creationId xmlns:a16="http://schemas.microsoft.com/office/drawing/2014/main" id="{582A3916-05FA-4B23-BA97-E7DB9108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76575"/>
            <a:ext cx="1104900" cy="1685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9B8B5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4" name="v2-uml-ticket-frame">
            <a:extLst xmlns:a="http://schemas.openxmlformats.org/drawingml/2006/main">
              <a:ext uri="{FF2B5EF4-FFF2-40B4-BE49-F238E27FC236}">
                <a16:creationId xmlns:a16="http://schemas.microsoft.com/office/drawing/2014/main" id="{D37C1607-7E0C-452C-87B3-F77A50D8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76575"/>
            <a:ext cx="1104900" cy="1685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9B8B5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5" name="v2-uml-vulnerability-title">
            <a:extLst xmlns:a="http://schemas.openxmlformats.org/drawingml/2006/main">
              <a:ext uri="{FF2B5EF4-FFF2-40B4-BE49-F238E27FC236}">
                <a16:creationId xmlns:a16="http://schemas.microsoft.com/office/drawing/2014/main" id="{6529846F-0FB6-445F-9041-9B07CAE7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718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漏洞</a:t>
            </a:r>
          </a:p>
        </p:txBody>
      </p:sp>
      <p:sp>
        <p:nvSpPr>
          <p:cNvPr id="36" name="v2-uml-ticket-title">
            <a:extLst xmlns:a="http://schemas.openxmlformats.org/drawingml/2006/main">
              <a:ext uri="{FF2B5EF4-FFF2-40B4-BE49-F238E27FC236}">
                <a16:creationId xmlns:a16="http://schemas.microsoft.com/office/drawing/2014/main" id="{F72C5493-429E-41F6-ADB4-9B1AC0C6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718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工单</a:t>
            </a:r>
          </a:p>
        </p:txBody>
      </p:sp>
      <p:sp>
        <p:nvSpPr>
          <p:cNvPr id="37" name="v2-uml-vulnerability-rule">
            <a:extLst xmlns:a="http://schemas.openxmlformats.org/drawingml/2006/main">
              <a:ext uri="{FF2B5EF4-FFF2-40B4-BE49-F238E27FC236}">
                <a16:creationId xmlns:a16="http://schemas.microsoft.com/office/drawing/2014/main" id="{26A30A5B-E86D-4AD4-8F18-AC2F70C2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14725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9B8B5"/>
            </a:solidFill>
            <a:prstDash val="solid"/>
          </a:ln>
        </p:spPr>
      </p:sp>
      <p:sp>
        <p:nvSpPr>
          <p:cNvPr id="38" name="v2-uml-ticket-rule">
            <a:extLst xmlns:a="http://schemas.openxmlformats.org/drawingml/2006/main">
              <a:ext uri="{FF2B5EF4-FFF2-40B4-BE49-F238E27FC236}">
                <a16:creationId xmlns:a16="http://schemas.microsoft.com/office/drawing/2014/main" id="{1265E3D2-5F68-4C1A-8F4E-5C172400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514725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9B8B5"/>
            </a:solidFill>
            <a:prstDash val="solid"/>
          </a:ln>
        </p:spPr>
      </p:sp>
      <p:sp>
        <p:nvSpPr>
          <p:cNvPr id="39" name="v2-uml-vulnerability-fields">
            <a:extLst xmlns:a="http://schemas.openxmlformats.org/drawingml/2006/main">
              <a:ext uri="{FF2B5EF4-FFF2-40B4-BE49-F238E27FC236}">
                <a16:creationId xmlns:a16="http://schemas.microsoft.com/office/drawing/2014/main" id="{D1A57F51-EBFF-4B89-BE33-4A2D1F47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76650"/>
            <a:ext cx="876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编号</a:t>
            </a:r>
          </a:p>
          <a:p xmlns:a="http://schemas.openxmlformats.org/drawingml/2006/main">
            <a: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风险等级</a:t>
            </a:r>
          </a:p>
          <a:p xmlns:a="http://schemas.openxmlformats.org/drawingml/2006/main">
            <a: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处置状态</a:t>
            </a:r>
          </a:p>
        </p:txBody>
      </p:sp>
      <p:sp>
        <p:nvSpPr>
          <p:cNvPr id="40" name="v2-uml-ticket-fields">
            <a:extLst xmlns:a="http://schemas.openxmlformats.org/drawingml/2006/main">
              <a:ext uri="{FF2B5EF4-FFF2-40B4-BE49-F238E27FC236}">
                <a16:creationId xmlns:a16="http://schemas.microsoft.com/office/drawing/2014/main" id="{A8AA006F-AEF1-4F0B-9359-B1A84628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76650"/>
            <a:ext cx="876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责任人</a:t>
            </a:r>
          </a:p>
          <a:p xmlns:a="http://schemas.openxmlformats.org/drawingml/2006/main">
            <a: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截止时间</a:t>
            </a:r>
          </a:p>
          <a:p xmlns:a="http://schemas.openxmlformats.org/drawingml/2006/main">
            <a:pPr algn="l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复测结果</a:t>
            </a:r>
          </a:p>
        </p:txBody>
      </p:sp>
      <p:sp>
        <p:nvSpPr>
          <p:cNvPr id="41" name="v2-uml-association">
            <a:extLst xmlns:a="http://schemas.openxmlformats.org/drawingml/2006/main">
              <a:ext uri="{FF2B5EF4-FFF2-40B4-BE49-F238E27FC236}">
                <a16:creationId xmlns:a16="http://schemas.microsoft.com/office/drawing/2014/main" id="{3673BDC9-FA95-4154-9FE7-B21CE864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9433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99B8B5"/>
            </a:solidFill>
            <a:prstDash val="solid"/>
          </a:ln>
        </p:spPr>
      </p:sp>
      <p:sp>
        <p:nvSpPr>
          <p:cNvPr id="42" name="v2-uml-one">
            <a:extLst xmlns:a="http://schemas.openxmlformats.org/drawingml/2006/main">
              <a:ext uri="{FF2B5EF4-FFF2-40B4-BE49-F238E27FC236}">
                <a16:creationId xmlns:a16="http://schemas.microsoft.com/office/drawing/2014/main" id="{913A29CF-2EDB-418D-8D7E-3A53B611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733800"/>
            <a:ext cx="133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43" name="v2-uml-many">
            <a:extLst xmlns:a="http://schemas.openxmlformats.org/drawingml/2006/main">
              <a:ext uri="{FF2B5EF4-FFF2-40B4-BE49-F238E27FC236}">
                <a16:creationId xmlns:a16="http://schemas.microsoft.com/office/drawing/2014/main" id="{732C2A82-62CE-4D89-8F2F-F7DD4B7F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7338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*</a:t>
            </a:r>
          </a:p>
        </p:txBody>
      </p:sp>
      <p:sp>
        <p:nvSpPr>
          <p:cNvPr id="44" name="v2-sequence-heading">
            <a:extLst xmlns:a="http://schemas.openxmlformats.org/drawingml/2006/main">
              <a:ext uri="{FF2B5EF4-FFF2-40B4-BE49-F238E27FC236}">
                <a16:creationId xmlns:a16="http://schemas.microsoft.com/office/drawing/2014/main" id="{0A7CB660-E233-45D4-B45C-B5F35A46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62250"/>
            <a:ext cx="2743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时序图</a:t>
            </a:r>
          </a:p>
        </p:txBody>
      </p:sp>
      <p:sp>
        <p:nvSpPr>
          <p:cNvPr id="45" name="v2-sequence-actor-0">
            <a:extLst xmlns:a="http://schemas.openxmlformats.org/drawingml/2006/main">
              <a:ext uri="{FF2B5EF4-FFF2-40B4-BE49-F238E27FC236}">
                <a16:creationId xmlns:a16="http://schemas.microsoft.com/office/drawing/2014/main" id="{7CE150B6-D7F8-47C2-9293-56586C3E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76575"/>
            <a:ext cx="6858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提交者</a:t>
            </a:r>
          </a:p>
        </p:txBody>
      </p:sp>
      <p:sp>
        <p:nvSpPr>
          <p:cNvPr id="46" name="v2-sequence-life-0">
            <a:extLst xmlns:a="http://schemas.openxmlformats.org/drawingml/2006/main">
              <a:ext uri="{FF2B5EF4-FFF2-40B4-BE49-F238E27FC236}">
                <a16:creationId xmlns:a16="http://schemas.microsoft.com/office/drawing/2014/main" id="{935A67CC-1427-47AA-9A32-9885FB11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19475"/>
            <a:ext cx="0" cy="142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9B8B5"/>
            </a:solidFill>
            <a:prstDash val="dash"/>
          </a:ln>
        </p:spPr>
      </p:sp>
      <p:sp>
        <p:nvSpPr>
          <p:cNvPr id="47" name="v2-sequence-actor-1">
            <a:extLst xmlns:a="http://schemas.openxmlformats.org/drawingml/2006/main">
              <a:ext uri="{FF2B5EF4-FFF2-40B4-BE49-F238E27FC236}">
                <a16:creationId xmlns:a16="http://schemas.microsoft.com/office/drawing/2014/main" id="{D2F7FCFF-9481-4635-8D07-51CD42E4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076575"/>
            <a:ext cx="6858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48" name="v2-sequence-life-1">
            <a:extLst xmlns:a="http://schemas.openxmlformats.org/drawingml/2006/main">
              <a:ext uri="{FF2B5EF4-FFF2-40B4-BE49-F238E27FC236}">
                <a16:creationId xmlns:a16="http://schemas.microsoft.com/office/drawing/2014/main" id="{8E00EB90-B98D-4575-815E-568CF5A6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419475"/>
            <a:ext cx="0" cy="142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9B8B5"/>
            </a:solidFill>
            <a:prstDash val="dash"/>
          </a:ln>
        </p:spPr>
      </p:sp>
      <p:sp>
        <p:nvSpPr>
          <p:cNvPr id="49" name="v2-sequence-actor-2">
            <a:extLst xmlns:a="http://schemas.openxmlformats.org/drawingml/2006/main">
              <a:ext uri="{FF2B5EF4-FFF2-40B4-BE49-F238E27FC236}">
                <a16:creationId xmlns:a16="http://schemas.microsoft.com/office/drawing/2014/main" id="{6DD0EC63-C46F-4BFF-97B0-F2E5E6A9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76575"/>
            <a:ext cx="6858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处理人</a:t>
            </a:r>
          </a:p>
        </p:txBody>
      </p:sp>
      <p:sp>
        <p:nvSpPr>
          <p:cNvPr id="50" name="v2-sequence-life-2">
            <a:extLst xmlns:a="http://schemas.openxmlformats.org/drawingml/2006/main">
              <a:ext uri="{FF2B5EF4-FFF2-40B4-BE49-F238E27FC236}">
                <a16:creationId xmlns:a16="http://schemas.microsoft.com/office/drawing/2014/main" id="{4914B702-A94B-4B63-BA47-FFC1F5AC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8100" y="3419475"/>
            <a:ext cx="0" cy="142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9B8B5"/>
            </a:solidFill>
            <a:prstDash val="dash"/>
          </a:ln>
        </p:spPr>
      </p:sp>
      <p:cxnSp>
        <p:nvCxnSpPr>
          <p:cNvPr id="51" name="v2-sequence-message-0">
            <a:extLst xmlns:a="http://schemas.openxmlformats.org/drawingml/2006/main">
              <a:ext uri="{FF2B5EF4-FFF2-40B4-BE49-F238E27FC236}">
                <a16:creationId xmlns:a16="http://schemas.microsoft.com/office/drawing/2014/main" id="{BCDBA819-4081-42FB-9999-0C2333DD3635}"/>
              </a:ext>
            </a:extLst>
          </p:cNvPr>
          <p:cNvCxnSpPr/>
          <p:nvPr/>
        </p:nvCxnSpPr>
        <p:spPr>
          <a:xfrm xmlns:a="http://schemas.openxmlformats.org/drawingml/2006/main" flipH="0">
            <a:off x="9410700" y="3619500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99B8B5"/>
            </a:solidFill>
            <a:tailEnd type="triangle" w="sm" len="sm"/>
          </a:ln>
        </p:spPr>
      </p:cxnSp>
      <p:sp>
        <p:nvSpPr>
          <p:cNvPr id="52" name="v2-sequence-message-label-0">
            <a:extLst xmlns:a="http://schemas.openxmlformats.org/drawingml/2006/main">
              <a:ext uri="{FF2B5EF4-FFF2-40B4-BE49-F238E27FC236}">
                <a16:creationId xmlns:a16="http://schemas.microsoft.com/office/drawing/2014/main" id="{A086D21F-77D9-483C-A195-5CC83331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004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上报</a:t>
            </a:r>
          </a:p>
        </p:txBody>
      </p:sp>
      <p:cxnSp>
        <p:nvCxnSpPr>
          <p:cNvPr id="53" name="v2-sequence-message-1">
            <a:extLst xmlns:a="http://schemas.openxmlformats.org/drawingml/2006/main">
              <a:ext uri="{FF2B5EF4-FFF2-40B4-BE49-F238E27FC236}">
                <a16:creationId xmlns:a16="http://schemas.microsoft.com/office/drawing/2014/main" id="{DB012228-BE21-4F68-A64B-9913E4BBD40D}"/>
              </a:ext>
            </a:extLst>
          </p:cNvPr>
          <p:cNvCxnSpPr/>
          <p:nvPr/>
        </p:nvCxnSpPr>
        <p:spPr>
          <a:xfrm xmlns:a="http://schemas.openxmlformats.org/drawingml/2006/main" flipH="0">
            <a:off x="10439400" y="4000500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99B8B5"/>
            </a:solidFill>
            <a:tailEnd type="triangle" w="sm" len="sm"/>
          </a:ln>
        </p:spPr>
      </p:cxnSp>
      <p:sp>
        <p:nvSpPr>
          <p:cNvPr id="54" name="v2-sequence-message-label-1">
            <a:extLst xmlns:a="http://schemas.openxmlformats.org/drawingml/2006/main">
              <a:ext uri="{FF2B5EF4-FFF2-40B4-BE49-F238E27FC236}">
                <a16:creationId xmlns:a16="http://schemas.microsoft.com/office/drawing/2014/main" id="{1E4BBFFE-4C61-4963-B685-349E48D6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7814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分派</a:t>
            </a:r>
          </a:p>
        </p:txBody>
      </p:sp>
      <p:cxnSp>
        <p:nvCxnSpPr>
          <p:cNvPr id="55" name="v2-sequence-message-2">
            <a:extLst xmlns:a="http://schemas.openxmlformats.org/drawingml/2006/main">
              <a:ext uri="{FF2B5EF4-FFF2-40B4-BE49-F238E27FC236}">
                <a16:creationId xmlns:a16="http://schemas.microsoft.com/office/drawing/2014/main" id="{F951EF78-B837-4972-A4AC-0AB75EC7AB22}"/>
              </a:ext>
            </a:extLst>
          </p:cNvPr>
          <p:cNvCxnSpPr/>
          <p:nvPr/>
        </p:nvCxnSpPr>
        <p:spPr>
          <a:xfrm xmlns:a="http://schemas.openxmlformats.org/drawingml/2006/main" flipH="1">
            <a:off x="10439400" y="4381500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99B8B5"/>
            </a:solidFill>
            <a:tailEnd type="triangle" w="sm" len="sm"/>
          </a:ln>
        </p:spPr>
      </p:cxnSp>
      <p:sp>
        <p:nvSpPr>
          <p:cNvPr id="56" name="v2-sequence-message-label-2">
            <a:extLst xmlns:a="http://schemas.openxmlformats.org/drawingml/2006/main">
              <a:ext uri="{FF2B5EF4-FFF2-40B4-BE49-F238E27FC236}">
                <a16:creationId xmlns:a16="http://schemas.microsoft.com/office/drawing/2014/main" id="{94B7E023-5F59-4325-9608-DFD9F17A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1624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回传</a:t>
            </a:r>
          </a:p>
        </p:txBody>
      </p:sp>
      <p:cxnSp>
        <p:nvCxnSpPr>
          <p:cNvPr id="57" name="v2-sequence-message-3">
            <a:extLst xmlns:a="http://schemas.openxmlformats.org/drawingml/2006/main">
              <a:ext uri="{FF2B5EF4-FFF2-40B4-BE49-F238E27FC236}">
                <a16:creationId xmlns:a16="http://schemas.microsoft.com/office/drawing/2014/main" id="{9DF91143-97D6-4899-99C8-89E78C2B7E36}"/>
              </a:ext>
            </a:extLst>
          </p:cNvPr>
          <p:cNvCxnSpPr/>
          <p:nvPr/>
        </p:nvCxnSpPr>
        <p:spPr>
          <a:xfrm xmlns:a="http://schemas.openxmlformats.org/drawingml/2006/main" flipH="1">
            <a:off x="9410700" y="4762500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99B8B5"/>
            </a:solidFill>
            <a:tailEnd type="triangle" w="sm" len="sm"/>
          </a:ln>
        </p:spPr>
      </p:cxnSp>
      <p:sp>
        <p:nvSpPr>
          <p:cNvPr id="58" name="v2-sequence-message-label-3">
            <a:extLst xmlns:a="http://schemas.openxmlformats.org/drawingml/2006/main">
              <a:ext uri="{FF2B5EF4-FFF2-40B4-BE49-F238E27FC236}">
                <a16:creationId xmlns:a16="http://schemas.microsoft.com/office/drawing/2014/main" id="{65842A69-DFE3-46FB-A138-F416E8E9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5434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确认</a:t>
            </a:r>
          </a:p>
        </p:txBody>
      </p:sp>
      <p:sp>
        <p:nvSpPr>
          <p:cNvPr id="59" name="v2-results-rule">
            <a:extLst xmlns:a="http://schemas.openxmlformats.org/drawingml/2006/main">
              <a:ext uri="{FF2B5EF4-FFF2-40B4-BE49-F238E27FC236}">
                <a16:creationId xmlns:a16="http://schemas.microsoft.com/office/drawing/2014/main" id="{13F35A2D-8C66-4DD3-AB47-B87240D5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114925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6E3"/>
            </a:solidFill>
            <a:prstDash val="solid"/>
          </a:ln>
        </p:spPr>
      </p:sp>
      <p:sp>
        <p:nvSpPr>
          <p:cNvPr id="60" name="v2-results-heading">
            <a:extLst xmlns:a="http://schemas.openxmlformats.org/drawingml/2006/main">
              <a:ext uri="{FF2B5EF4-FFF2-40B4-BE49-F238E27FC236}">
                <a16:creationId xmlns:a16="http://schemas.microsoft.com/office/drawing/2014/main" id="{91D24EE5-8777-4B81-95BC-64D589BA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248275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7E80"/>
                </a:solidFill>
                <a:latin typeface="PingFang SC"/>
                <a:ea typeface="PingFang SC"/>
                <a:cs typeface="PingFang SC"/>
              </a:rPr>
              <a:t>成果输出 / 效果</a:t>
            </a:r>
          </a:p>
        </p:txBody>
      </p:sp>
      <p:sp>
        <p:nvSpPr>
          <p:cNvPr id="61" name="v2-code-heading">
            <a:extLst xmlns:a="http://schemas.openxmlformats.org/drawingml/2006/main">
              <a:ext uri="{FF2B5EF4-FFF2-40B4-BE49-F238E27FC236}">
                <a16:creationId xmlns:a16="http://schemas.microsoft.com/office/drawing/2014/main" id="{505D718A-C390-430E-8240-476DEE69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67690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代码量与模块</a:t>
            </a:r>
          </a:p>
        </p:txBody>
      </p:sp>
      <p:sp>
        <p:nvSpPr>
          <p:cNvPr id="62" name="v2-code-values">
            <a:extLst xmlns:a="http://schemas.openxmlformats.org/drawingml/2006/main">
              <a:ext uri="{FF2B5EF4-FFF2-40B4-BE49-F238E27FC236}">
                <a16:creationId xmlns:a16="http://schemas.microsoft.com/office/drawing/2014/main" id="{D89200A2-99FC-42A0-B1E8-5762B58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019800"/>
            <a:ext cx="2628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有效代码：〔行数〕行</a:t>
            </a:r>
          </a:p>
          <a:p xmlns:a="http://schemas.openxmlformats.org/drawingml/2006/main">
            <a:pPr algn="l">
              <a:def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核心模块：〔数量〕个</a:t>
            </a:r>
          </a:p>
        </p:txBody>
      </p:sp>
      <p:sp>
        <p:nvSpPr>
          <p:cNvPr id="63" name="v2-efficiency-heading">
            <a:extLst xmlns:a="http://schemas.openxmlformats.org/drawingml/2006/main">
              <a:ext uri="{FF2B5EF4-FFF2-40B4-BE49-F238E27FC236}">
                <a16:creationId xmlns:a16="http://schemas.microsoft.com/office/drawing/2014/main" id="{6657BB91-DAD9-43D6-A31A-ED4D4B21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76900"/>
            <a:ext cx="443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效率提升</a:t>
            </a:r>
          </a:p>
        </p:txBody>
      </p:sp>
      <p:sp>
        <p:nvSpPr>
          <p:cNvPr id="64" name="v2-efficiency-values">
            <a:extLst xmlns:a="http://schemas.openxmlformats.org/drawingml/2006/main">
              <a:ext uri="{FF2B5EF4-FFF2-40B4-BE49-F238E27FC236}">
                <a16:creationId xmlns:a16="http://schemas.microsoft.com/office/drawing/2014/main" id="{4EC8FB91-B532-4E7C-8E01-117C9A02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6019800"/>
            <a:ext cx="443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优化前〔X〕 → 优化后〔Y〕分钟 / 条</a:t>
            </a:r>
          </a:p>
          <a:p xmlns:a="http://schemas.openxmlformats.org/drawingml/2006/main">
            <a:pPr algn="l">
              <a:def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耗时下降〔%〕 · 同口径样本〔N〕条</a:t>
            </a:r>
          </a:p>
        </p:txBody>
      </p:sp>
      <p:sp>
        <p:nvSpPr>
          <p:cNvPr id="65" name="v2-webpage-heading">
            <a:extLst xmlns:a="http://schemas.openxmlformats.org/drawingml/2006/main">
              <a:ext uri="{FF2B5EF4-FFF2-40B4-BE49-F238E27FC236}">
                <a16:creationId xmlns:a16="http://schemas.microsoft.com/office/drawing/2014/main" id="{608E26B8-95F5-4106-AFA9-19F9483C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86375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03C43"/>
                </a:solidFill>
                <a:latin typeface="PingFang SC"/>
                <a:ea typeface="PingFang SC"/>
                <a:cs typeface="PingFang SC"/>
              </a:rPr>
              <a:t>网页展示</a:t>
            </a:r>
          </a:p>
        </p:txBody>
      </p:sp>
      <p:sp>
        <p:nvSpPr>
          <p:cNvPr id="66" name="v2-webpage-placeholder">
            <a:extLst xmlns:a="http://schemas.openxmlformats.org/drawingml/2006/main">
              <a:ext uri="{FF2B5EF4-FFF2-40B4-BE49-F238E27FC236}">
                <a16:creationId xmlns:a16="http://schemas.microsoft.com/office/drawing/2014/main" id="{BD560F5D-17E5-41C9-8843-29C4B63C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610225"/>
            <a:ext cx="36195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9F8"/>
          </a:solidFill>
          <a:ln xmlns:a="http://schemas.openxmlformats.org/drawingml/2006/main" w="9525">
            <a:solidFill>
              <a:srgbClr val="DCE6E3"/>
            </a:solidFill>
            <a:prstDash val="dash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03C43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〔插入系统网页截图，标注关键页面与功能〕</a:t>
            </a:r>
          </a:p>
        </p:txBody>
      </p:sp>
      <p:sp>
        <p:nvSpPr>
          <p:cNvPr id="67" name="v2-note">
            <a:extLst xmlns:a="http://schemas.openxmlformats.org/drawingml/2006/main">
              <a:ext uri="{FF2B5EF4-FFF2-40B4-BE49-F238E27FC236}">
                <a16:creationId xmlns:a16="http://schemas.microsoft.com/office/drawing/2014/main" id="{DEAB70EF-E692-4A1E-B09F-3913325F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6484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图示为方案示意，数据与截图待填写</a:t>
            </a:r>
          </a:p>
        </p:txBody>
      </p:sp>
      <p:sp>
        <p:nvSpPr>
          <p:cNvPr id="68" name="v2-footer">
            <a:extLst xmlns:a="http://schemas.openxmlformats.org/drawingml/2006/main">
              <a:ext uri="{FF2B5EF4-FFF2-40B4-BE49-F238E27FC236}">
                <a16:creationId xmlns:a16="http://schemas.microsoft.com/office/drawing/2014/main" id="{FB2B44C4-E528-4D02-A18C-E36CC907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648450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47B80"/>
                </a:solidFill>
                <a:latin typeface="PingFang SC"/>
                <a:ea typeface="PingFang SC"/>
                <a:cs typeface="PingFang SC"/>
              </a:rPr>
              <a:t>汇报人：〔姓名〕  |  日期：〔日期〕</a:t>
            </a:r>
          </a:p>
        </p:txBody>
      </p:sp>
    </p:spTree>
    <p:extLst>
      <p:ext uri="{BB962C8B-B14F-4D97-AF65-F5344CB8AC3E}">
        <p14:creationId xmlns:p14="http://schemas.microsoft.com/office/powerpoint/2010/main" val="17701214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41C14D-105C-42DC-94DD-F430DEA2935B}"/>
              </a:ext>
            </a:extLst>
          </p:cNvPr>
          <p:cNvCxnSpPr>
            <a:stCxn xmlns:a="http://schemas.openxmlformats.org/drawingml/2006/main" id="30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000750" y="3838575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C6AD96"/>
            </a:solidFill>
            <a:tailEnd type="triangle" w="sm" len="sm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DA478-707E-4547-9198-661F46629404}"/>
              </a:ext>
            </a:extLst>
          </p:cNvPr>
          <p:cNvCxnSpPr>
            <a:stCxn xmlns:a="http://schemas.openxmlformats.org/drawingml/2006/main" id="27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6000750" y="3076575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C6AD96"/>
            </a:solidFill>
            <a:tailEnd type="triangle" w="sm" len="sm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85D42-0576-426E-ACCC-EC5621FD98E5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9860280" y="1371600"/>
            <a:ext cx="27432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6AD96"/>
            </a:solidFill>
            <a:tailEnd type="triangle" w="sm" len="sm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91032D-E55A-468E-8D4F-BE2B15BC431F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909560" y="1371600"/>
            <a:ext cx="27432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6AD96"/>
            </a:solidFill>
            <a:tailEnd type="triangle" w="sm" len="sm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51C7B-BE73-4510-A55D-7355BB3E55A6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958840" y="1371600"/>
            <a:ext cx="27432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6AD96"/>
            </a:solidFill>
            <a:tailEnd type="triangle" w="sm" len="sm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F081F1-DC19-486B-BE21-432392D860C3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008120" y="1371600"/>
            <a:ext cx="27432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6AD96"/>
            </a:solidFill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A4587-4A08-4FCD-804F-686B6820C478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57400" y="1371600"/>
            <a:ext cx="27432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6AD96"/>
            </a:solidFill>
            <a:tailEnd type="triangle" w="sm" len="sm"/>
          </a:ln>
        </p:spPr>
      </p:cxnSp>
      <p:sp>
        <p:nvSpPr>
          <p:cNvPr id="9" name="v3-title">
            <a:extLst xmlns:a="http://schemas.openxmlformats.org/drawingml/2006/main">
              <a:ext uri="{FF2B5EF4-FFF2-40B4-BE49-F238E27FC236}">
                <a16:creationId xmlns:a16="http://schemas.microsoft.com/office/drawing/2014/main" id="{125F6FFA-FCA5-4139-B743-11BE614E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476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漏洞治理流程</a:t>
            </a:r>
          </a:p>
        </p:txBody>
      </p:sp>
      <p:sp>
        <p:nvSpPr>
          <p:cNvPr id="10" name="v3-type">
            <a:extLst xmlns:a="http://schemas.openxmlformats.org/drawingml/2006/main">
              <a:ext uri="{FF2B5EF4-FFF2-40B4-BE49-F238E27FC236}">
                <a16:creationId xmlns:a16="http://schemas.microsoft.com/office/drawing/2014/main" id="{98F3E52E-D850-492E-9DBC-2340EB68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00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中期汇报 · 方案三</a:t>
            </a:r>
          </a:p>
        </p:txBody>
      </p:sp>
      <p:sp>
        <p:nvSpPr>
          <p:cNvPr id="11" name="v3-flow-heading">
            <a:extLst xmlns:a="http://schemas.openxmlformats.org/drawingml/2006/main">
              <a:ext uri="{FF2B5EF4-FFF2-40B4-BE49-F238E27FC236}">
                <a16:creationId xmlns:a16="http://schemas.microsoft.com/office/drawing/2014/main" id="{7E60AA46-2ECB-448E-820E-98131D4A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95350"/>
            <a:ext cx="1143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治理主线</a:t>
            </a:r>
          </a:p>
        </p:txBody>
      </p:sp>
      <p:sp>
        <p:nvSpPr>
          <p:cNvPr id="12" name="v3-flow-step-0">
            <a:extLst xmlns:a="http://schemas.openxmlformats.org/drawingml/2006/main">
              <a:ext uri="{FF2B5EF4-FFF2-40B4-BE49-F238E27FC236}">
                <a16:creationId xmlns:a16="http://schemas.microsoft.com/office/drawing/2014/main" id="{05022096-90B8-490B-AE40-883B882D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71575"/>
            <a:ext cx="1676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0E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漏洞发现</a:t>
            </a:r>
          </a:p>
        </p:txBody>
      </p:sp>
      <p:sp>
        <p:nvSpPr>
          <p:cNvPr id="13" name="v3-flow-step-1">
            <a:extLst xmlns:a="http://schemas.openxmlformats.org/drawingml/2006/main">
              <a:ext uri="{FF2B5EF4-FFF2-40B4-BE49-F238E27FC236}">
                <a16:creationId xmlns:a16="http://schemas.microsoft.com/office/drawing/2014/main" id="{7FD0CB7A-1450-43A0-B007-0A7E8322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171575"/>
            <a:ext cx="1676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0E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确认归并</a:t>
            </a:r>
          </a:p>
        </p:txBody>
      </p:sp>
      <p:sp>
        <p:nvSpPr>
          <p:cNvPr id="14" name="v3-flow-step-2">
            <a:extLst xmlns:a="http://schemas.openxmlformats.org/drawingml/2006/main">
              <a:ext uri="{FF2B5EF4-FFF2-40B4-BE49-F238E27FC236}">
                <a16:creationId xmlns:a16="http://schemas.microsoft.com/office/drawing/2014/main" id="{9DB050C5-801F-4BD6-A634-4D2A7795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440" y="1171575"/>
            <a:ext cx="1676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0E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风险评估</a:t>
            </a:r>
          </a:p>
        </p:txBody>
      </p:sp>
      <p:sp>
        <p:nvSpPr>
          <p:cNvPr id="15" name="v3-flow-step-3">
            <a:extLst xmlns:a="http://schemas.openxmlformats.org/drawingml/2006/main">
              <a:ext uri="{FF2B5EF4-FFF2-40B4-BE49-F238E27FC236}">
                <a16:creationId xmlns:a16="http://schemas.microsoft.com/office/drawing/2014/main" id="{9C7DC2A8-13FD-4D2E-93CA-8CEEC6A3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0" y="1171575"/>
            <a:ext cx="1676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0E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分派修复</a:t>
            </a:r>
          </a:p>
        </p:txBody>
      </p:sp>
      <p:sp>
        <p:nvSpPr>
          <p:cNvPr id="16" name="v3-flow-step-4">
            <a:extLst xmlns:a="http://schemas.openxmlformats.org/drawingml/2006/main">
              <a:ext uri="{FF2B5EF4-FFF2-40B4-BE49-F238E27FC236}">
                <a16:creationId xmlns:a16="http://schemas.microsoft.com/office/drawing/2014/main" id="{30ACF634-8D6E-41A7-9FBB-A50B97A6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171575"/>
            <a:ext cx="1676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0E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复测验证</a:t>
            </a:r>
          </a:p>
        </p:txBody>
      </p:sp>
      <p:sp>
        <p:nvSpPr>
          <p:cNvPr id="17" name="v3-flow-step-5">
            <a:extLst xmlns:a="http://schemas.openxmlformats.org/drawingml/2006/main">
              <a:ext uri="{FF2B5EF4-FFF2-40B4-BE49-F238E27FC236}">
                <a16:creationId xmlns:a16="http://schemas.microsoft.com/office/drawing/2014/main" id="{DD83A5D4-785A-4E1B-B38F-763BEA1E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171575"/>
            <a:ext cx="1676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0E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关闭复盘</a:t>
            </a:r>
          </a:p>
        </p:txBody>
      </p:sp>
      <p:sp>
        <p:nvSpPr>
          <p:cNvPr id="18" name="v3-flow-note">
            <a:extLst xmlns:a="http://schemas.openxmlformats.org/drawingml/2006/main">
              <a:ext uri="{FF2B5EF4-FFF2-40B4-BE49-F238E27FC236}">
                <a16:creationId xmlns:a16="http://schemas.microsoft.com/office/drawing/2014/main" id="{3ECA557E-6991-4CDA-BC90-243C2461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143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复测未通过 → 返回修复；关闭时保留验证证据</a:t>
            </a:r>
          </a:p>
        </p:txBody>
      </p:sp>
      <p:sp>
        <p:nvSpPr>
          <p:cNvPr id="19" name="v3-context-heading">
            <a:extLst xmlns:a="http://schemas.openxmlformats.org/drawingml/2006/main">
              <a:ext uri="{FF2B5EF4-FFF2-40B4-BE49-F238E27FC236}">
                <a16:creationId xmlns:a16="http://schemas.microsoft.com/office/drawing/2014/main" id="{12420CDC-D185-4E19-8331-17D59448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145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背景 / 问题 / 挑战</a:t>
            </a:r>
          </a:p>
        </p:txBody>
      </p:sp>
      <p:sp>
        <p:nvSpPr>
          <p:cNvPr id="20" name="v3-background-title">
            <a:extLst xmlns:a="http://schemas.openxmlformats.org/drawingml/2006/main">
              <a:ext uri="{FF2B5EF4-FFF2-40B4-BE49-F238E27FC236}">
                <a16:creationId xmlns:a16="http://schemas.microsoft.com/office/drawing/2014/main" id="{D1E7BC7D-9B11-48D9-8D98-D369E979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43175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背景介绍</a:t>
            </a:r>
          </a:p>
        </p:txBody>
      </p:sp>
      <p:sp>
        <p:nvSpPr>
          <p:cNvPr id="21" name="v3-background-body">
            <a:extLst xmlns:a="http://schemas.openxmlformats.org/drawingml/2006/main">
              <a:ext uri="{FF2B5EF4-FFF2-40B4-BE49-F238E27FC236}">
                <a16:creationId xmlns:a16="http://schemas.microsoft.com/office/drawing/2014/main" id="{FB0C1955-1F44-4E8D-84DE-7E400CC8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67025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场景：〔业务与资产范围〕</a:t>
            </a:r>
          </a:p>
          <a:p xmlns:a="http://schemas.openxmlformats.org/drawingml/2006/main">
            <a: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目标：〔填写研究目标〕</a:t>
            </a:r>
          </a:p>
        </p:txBody>
      </p:sp>
      <p:sp>
        <p:nvSpPr>
          <p:cNvPr id="22" name="v3-problem-title">
            <a:extLst xmlns:a="http://schemas.openxmlformats.org/drawingml/2006/main">
              <a:ext uri="{FF2B5EF4-FFF2-40B4-BE49-F238E27FC236}">
                <a16:creationId xmlns:a16="http://schemas.microsoft.com/office/drawing/2014/main" id="{E63D9204-890D-4EDC-8309-D705D8DE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495675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问题描述</a:t>
            </a:r>
          </a:p>
        </p:txBody>
      </p:sp>
      <p:sp>
        <p:nvSpPr>
          <p:cNvPr id="23" name="v3-problem-body">
            <a:extLst xmlns:a="http://schemas.openxmlformats.org/drawingml/2006/main">
              <a:ext uri="{FF2B5EF4-FFF2-40B4-BE49-F238E27FC236}">
                <a16:creationId xmlns:a16="http://schemas.microsoft.com/office/drawing/2014/main" id="{B1F4B9C4-7BAA-4C19-8B83-00AAD566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9525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痛点：〔填写主要问题〕</a:t>
            </a:r>
          </a:p>
          <a:p xmlns:a="http://schemas.openxmlformats.org/drawingml/2006/main">
            <a: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影响：〔填写业务影响〕</a:t>
            </a:r>
          </a:p>
        </p:txBody>
      </p:sp>
      <p:sp>
        <p:nvSpPr>
          <p:cNvPr id="24" name="v3-challenge-title">
            <a:extLst xmlns:a="http://schemas.openxmlformats.org/drawingml/2006/main">
              <a:ext uri="{FF2B5EF4-FFF2-40B4-BE49-F238E27FC236}">
                <a16:creationId xmlns:a16="http://schemas.microsoft.com/office/drawing/2014/main" id="{3E46933D-4FF9-47B9-A5C3-ECD525DF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38650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关键挑战</a:t>
            </a:r>
          </a:p>
        </p:txBody>
      </p:sp>
      <p:sp>
        <p:nvSpPr>
          <p:cNvPr id="25" name="v3-challenge-body">
            <a:extLst xmlns:a="http://schemas.openxmlformats.org/drawingml/2006/main">
              <a:ext uri="{FF2B5EF4-FFF2-40B4-BE49-F238E27FC236}">
                <a16:creationId xmlns:a16="http://schemas.microsoft.com/office/drawing/2014/main" id="{B2BBB9B2-C0FF-4532-BA29-74580052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752975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〔关键技术难点与实施约束〕</a:t>
            </a:r>
          </a:p>
        </p:txBody>
      </p:sp>
      <p:sp>
        <p:nvSpPr>
          <p:cNvPr id="26" name="v3-architecture-heading">
            <a:extLst xmlns:a="http://schemas.openxmlformats.org/drawingml/2006/main">
              <a:ext uri="{FF2B5EF4-FFF2-40B4-BE49-F238E27FC236}">
                <a16:creationId xmlns:a16="http://schemas.microsoft.com/office/drawing/2014/main" id="{F7BC7564-8B02-46F6-9C7C-E512DB92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145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系统框架（方案示意）</a:t>
            </a:r>
          </a:p>
        </p:txBody>
      </p:sp>
      <p:sp>
        <p:nvSpPr>
          <p:cNvPr id="27" name="v3-architecture-row-0">
            <a:extLst xmlns:a="http://schemas.openxmlformats.org/drawingml/2006/main">
              <a:ext uri="{FF2B5EF4-FFF2-40B4-BE49-F238E27FC236}">
                <a16:creationId xmlns:a16="http://schemas.microsoft.com/office/drawing/2014/main" id="{52F7DC0B-C7BB-4A4F-A891-B4EC24DC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43175"/>
            <a:ext cx="5715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8" name="v3-architecture-layer-label-0">
            <a:extLst xmlns:a="http://schemas.openxmlformats.org/drawingml/2006/main">
              <a:ext uri="{FF2B5EF4-FFF2-40B4-BE49-F238E27FC236}">
                <a16:creationId xmlns:a16="http://schemas.microsoft.com/office/drawing/2014/main" id="{F37DEB1B-4A18-4235-9E22-EBC157FE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81288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展示层</a:t>
            </a:r>
          </a:p>
        </p:txBody>
      </p:sp>
      <p:sp>
        <p:nvSpPr>
          <p:cNvPr id="29" name="v3-architecture-layer-rule-0">
            <a:extLst xmlns:a="http://schemas.openxmlformats.org/drawingml/2006/main">
              <a:ext uri="{FF2B5EF4-FFF2-40B4-BE49-F238E27FC236}">
                <a16:creationId xmlns:a16="http://schemas.microsoft.com/office/drawing/2014/main" id="{1D6B367F-A370-4568-96A4-4356C980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543175"/>
            <a:ext cx="0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DCD4"/>
            </a:solidFill>
            <a:prstDash val="solid"/>
          </a:ln>
        </p:spPr>
      </p:sp>
      <p:sp>
        <p:nvSpPr>
          <p:cNvPr id="30" name="v3-architecture-row-1">
            <a:extLst xmlns:a="http://schemas.openxmlformats.org/drawingml/2006/main">
              <a:ext uri="{FF2B5EF4-FFF2-40B4-BE49-F238E27FC236}">
                <a16:creationId xmlns:a16="http://schemas.microsoft.com/office/drawing/2014/main" id="{1CC6CD70-F992-4C9B-BD79-4CC89404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28975"/>
            <a:ext cx="571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1" name="v3-architecture-layer-label-1">
            <a:extLst xmlns:a="http://schemas.openxmlformats.org/drawingml/2006/main">
              <a:ext uri="{FF2B5EF4-FFF2-40B4-BE49-F238E27FC236}">
                <a16:creationId xmlns:a16="http://schemas.microsoft.com/office/drawing/2014/main" id="{9B9A09B0-8DC6-48EC-B03E-2ADBD7F2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05188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服务层</a:t>
            </a:r>
          </a:p>
        </p:txBody>
      </p:sp>
      <p:sp>
        <p:nvSpPr>
          <p:cNvPr id="32" name="v3-architecture-layer-rule-1">
            <a:extLst xmlns:a="http://schemas.openxmlformats.org/drawingml/2006/main">
              <a:ext uri="{FF2B5EF4-FFF2-40B4-BE49-F238E27FC236}">
                <a16:creationId xmlns:a16="http://schemas.microsoft.com/office/drawing/2014/main" id="{27C995A7-0BC5-42D0-BB78-1F726386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228975"/>
            <a:ext cx="0" cy="609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DCD4"/>
            </a:solidFill>
            <a:prstDash val="solid"/>
          </a:ln>
        </p:spPr>
      </p:sp>
      <p:sp>
        <p:nvSpPr>
          <p:cNvPr id="33" name="v3-architecture-row-2">
            <a:extLst xmlns:a="http://schemas.openxmlformats.org/drawingml/2006/main">
              <a:ext uri="{FF2B5EF4-FFF2-40B4-BE49-F238E27FC236}">
                <a16:creationId xmlns:a16="http://schemas.microsoft.com/office/drawing/2014/main" id="{42FC6AC3-F814-4DD5-A76D-9B4A117F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90975"/>
            <a:ext cx="5715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34" name="v3-architecture-layer-label-2">
            <a:extLst xmlns:a="http://schemas.openxmlformats.org/drawingml/2006/main">
              <a:ext uri="{FF2B5EF4-FFF2-40B4-BE49-F238E27FC236}">
                <a16:creationId xmlns:a16="http://schemas.microsoft.com/office/drawing/2014/main" id="{14DA5215-97D5-47B3-881B-C4FADE11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129088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数据层</a:t>
            </a:r>
          </a:p>
        </p:txBody>
      </p:sp>
      <p:sp>
        <p:nvSpPr>
          <p:cNvPr id="35" name="v3-architecture-layer-rule-2">
            <a:extLst xmlns:a="http://schemas.openxmlformats.org/drawingml/2006/main">
              <a:ext uri="{FF2B5EF4-FFF2-40B4-BE49-F238E27FC236}">
                <a16:creationId xmlns:a16="http://schemas.microsoft.com/office/drawing/2014/main" id="{6D2FF15E-992C-4089-9534-C7C47C0B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990975"/>
            <a:ext cx="0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DCD4"/>
            </a:solidFill>
            <a:prstDash val="solid"/>
          </a:ln>
        </p:spPr>
      </p:sp>
      <p:sp>
        <p:nvSpPr>
          <p:cNvPr id="36" name="v3-display-console">
            <a:extLst xmlns:a="http://schemas.openxmlformats.org/drawingml/2006/main">
              <a:ext uri="{FF2B5EF4-FFF2-40B4-BE49-F238E27FC236}">
                <a16:creationId xmlns:a16="http://schemas.microsoft.com/office/drawing/2014/main" id="{98EBF42D-85A2-41BA-9FE3-607C99C2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479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资产与漏洞看板</a:t>
            </a:r>
          </a:p>
        </p:txBody>
      </p:sp>
      <p:sp>
        <p:nvSpPr>
          <p:cNvPr id="37" name="v3-display-ticket">
            <a:extLst xmlns:a="http://schemas.openxmlformats.org/drawingml/2006/main">
              <a:ext uri="{FF2B5EF4-FFF2-40B4-BE49-F238E27FC236}">
                <a16:creationId xmlns:a16="http://schemas.microsoft.com/office/drawing/2014/main" id="{A6C6DC92-FE7C-49C4-AF68-92579299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工单处置页面</a:t>
            </a:r>
          </a:p>
        </p:txBody>
      </p:sp>
      <p:sp>
        <p:nvSpPr>
          <p:cNvPr id="38" name="v3-service-0">
            <a:extLst xmlns:a="http://schemas.openxmlformats.org/drawingml/2006/main">
              <a:ext uri="{FF2B5EF4-FFF2-40B4-BE49-F238E27FC236}">
                <a16:creationId xmlns:a16="http://schemas.microsoft.com/office/drawing/2014/main" id="{4CB6D10E-1A4D-46AE-9D10-E481CECE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381375"/>
            <a:ext cx="1009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数据接入</a:t>
            </a:r>
          </a:p>
        </p:txBody>
      </p:sp>
      <p:sp>
        <p:nvSpPr>
          <p:cNvPr id="39" name="v3-service-1">
            <a:extLst xmlns:a="http://schemas.openxmlformats.org/drawingml/2006/main">
              <a:ext uri="{FF2B5EF4-FFF2-40B4-BE49-F238E27FC236}">
                <a16:creationId xmlns:a16="http://schemas.microsoft.com/office/drawing/2014/main" id="{6FA5E36B-634A-4C4F-BCBD-D4B26703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81375"/>
            <a:ext cx="1009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归并去重</a:t>
            </a:r>
          </a:p>
        </p:txBody>
      </p:sp>
      <p:sp>
        <p:nvSpPr>
          <p:cNvPr id="40" name="v3-service-2">
            <a:extLst xmlns:a="http://schemas.openxmlformats.org/drawingml/2006/main">
              <a:ext uri="{FF2B5EF4-FFF2-40B4-BE49-F238E27FC236}">
                <a16:creationId xmlns:a16="http://schemas.microsoft.com/office/drawing/2014/main" id="{EFF0D44F-57AD-46AE-91CB-98FA8E74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81375"/>
            <a:ext cx="1009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风险评估</a:t>
            </a:r>
          </a:p>
        </p:txBody>
      </p:sp>
      <p:sp>
        <p:nvSpPr>
          <p:cNvPr id="41" name="v3-service-3">
            <a:extLst xmlns:a="http://schemas.openxmlformats.org/drawingml/2006/main">
              <a:ext uri="{FF2B5EF4-FFF2-40B4-BE49-F238E27FC236}">
                <a16:creationId xmlns:a16="http://schemas.microsoft.com/office/drawing/2014/main" id="{1321EA57-7598-4481-92F7-6A80CE0F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381375"/>
            <a:ext cx="1009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工单流转</a:t>
            </a:r>
          </a:p>
        </p:txBody>
      </p:sp>
      <p:sp>
        <p:nvSpPr>
          <p:cNvPr id="42" name="v3-data-0">
            <a:extLst xmlns:a="http://schemas.openxmlformats.org/drawingml/2006/main">
              <a:ext uri="{FF2B5EF4-FFF2-40B4-BE49-F238E27FC236}">
                <a16:creationId xmlns:a16="http://schemas.microsoft.com/office/drawing/2014/main" id="{F4CC7698-9D2A-4941-95EE-888BF5E4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95750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资产库</a:t>
            </a:r>
          </a:p>
        </p:txBody>
      </p:sp>
      <p:sp>
        <p:nvSpPr>
          <p:cNvPr id="43" name="v3-data-1">
            <a:extLst xmlns:a="http://schemas.openxmlformats.org/drawingml/2006/main">
              <a:ext uri="{FF2B5EF4-FFF2-40B4-BE49-F238E27FC236}">
                <a16:creationId xmlns:a16="http://schemas.microsoft.com/office/drawing/2014/main" id="{89473E93-0714-4529-8C54-8A4F4A02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95750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漏洞库</a:t>
            </a:r>
          </a:p>
        </p:txBody>
      </p:sp>
      <p:sp>
        <p:nvSpPr>
          <p:cNvPr id="44" name="v3-data-2">
            <a:extLst xmlns:a="http://schemas.openxmlformats.org/drawingml/2006/main">
              <a:ext uri="{FF2B5EF4-FFF2-40B4-BE49-F238E27FC236}">
                <a16:creationId xmlns:a16="http://schemas.microsoft.com/office/drawing/2014/main" id="{21D5CBDF-4FCA-4620-BB07-D4933BB2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95750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CD4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审计记录</a:t>
            </a:r>
          </a:p>
        </p:txBody>
      </p:sp>
      <p:sp>
        <p:nvSpPr>
          <p:cNvPr id="45" name="v3-architecture-note">
            <a:extLst xmlns:a="http://schemas.openxmlformats.org/drawingml/2006/main">
              <a:ext uri="{FF2B5EF4-FFF2-40B4-BE49-F238E27FC236}">
                <a16:creationId xmlns:a16="http://schemas.microsoft.com/office/drawing/2014/main" id="{E8FC2A35-4C58-45F2-84B2-108DABD1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67250"/>
            <a:ext cx="571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关键能力：〔按实际实现补充模块与接口〕</a:t>
            </a:r>
          </a:p>
        </p:txBody>
      </p:sp>
      <p:sp>
        <p:nvSpPr>
          <p:cNvPr id="46" name="v3-results-heading">
            <a:extLst xmlns:a="http://schemas.openxmlformats.org/drawingml/2006/main">
              <a:ext uri="{FF2B5EF4-FFF2-40B4-BE49-F238E27FC236}">
                <a16:creationId xmlns:a16="http://schemas.microsoft.com/office/drawing/2014/main" id="{3D047DEF-E2E2-4908-A669-2E26A0302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145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成果输出 / 效果</a:t>
            </a:r>
          </a:p>
        </p:txBody>
      </p:sp>
      <p:sp>
        <p:nvSpPr>
          <p:cNvPr id="47" name="v3-code-heading">
            <a:extLst xmlns:a="http://schemas.openxmlformats.org/drawingml/2006/main">
              <a:ext uri="{FF2B5EF4-FFF2-40B4-BE49-F238E27FC236}">
                <a16:creationId xmlns:a16="http://schemas.microsoft.com/office/drawing/2014/main" id="{995CE2FB-DABD-4D4B-82AA-8B59B910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52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代码量与模块</a:t>
            </a:r>
          </a:p>
        </p:txBody>
      </p:sp>
      <p:sp>
        <p:nvSpPr>
          <p:cNvPr id="48" name="v3-code-values">
            <a:extLst xmlns:a="http://schemas.openxmlformats.org/drawingml/2006/main">
              <a:ext uri="{FF2B5EF4-FFF2-40B4-BE49-F238E27FC236}">
                <a16:creationId xmlns:a16="http://schemas.microsoft.com/office/drawing/2014/main" id="{29D94F2A-132D-40E2-92F0-19625C05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886075"/>
            <a:ext cx="238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有效代码：〔行数〕行</a:t>
            </a:r>
          </a:p>
          <a:p xmlns:a="http://schemas.openxmlformats.org/drawingml/2006/main">
            <a: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核心模块：〔数量〕个</a:t>
            </a:r>
          </a:p>
        </p:txBody>
      </p:sp>
      <p:sp>
        <p:nvSpPr>
          <p:cNvPr id="49" name="v3-efficiency-heading">
            <a:extLst xmlns:a="http://schemas.openxmlformats.org/drawingml/2006/main">
              <a:ext uri="{FF2B5EF4-FFF2-40B4-BE49-F238E27FC236}">
                <a16:creationId xmlns:a16="http://schemas.microsoft.com/office/drawing/2014/main" id="{8D6CCBD6-D390-4B41-B90C-10D53399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623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效率提升</a:t>
            </a:r>
          </a:p>
        </p:txBody>
      </p:sp>
      <p:sp>
        <p:nvSpPr>
          <p:cNvPr id="50" name="v3-efficiency-values">
            <a:extLst xmlns:a="http://schemas.openxmlformats.org/drawingml/2006/main">
              <a:ext uri="{FF2B5EF4-FFF2-40B4-BE49-F238E27FC236}">
                <a16:creationId xmlns:a16="http://schemas.microsoft.com/office/drawing/2014/main" id="{30D88B54-57EC-4D7D-BCCB-80690EA4C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052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优化前：〔X〕分钟 / 条</a:t>
            </a:r>
          </a:p>
          <a:p xmlns:a="http://schemas.openxmlformats.org/drawingml/2006/main">
            <a:pPr algn="l">
              <a:def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优化后：〔Y〕分钟 / 条</a:t>
            </a:r>
          </a:p>
        </p:txBody>
      </p:sp>
      <p:sp>
        <p:nvSpPr>
          <p:cNvPr id="51" name="v3-efficiency-percent">
            <a:extLst xmlns:a="http://schemas.openxmlformats.org/drawingml/2006/main">
              <a:ext uri="{FF2B5EF4-FFF2-40B4-BE49-F238E27FC236}">
                <a16:creationId xmlns:a16="http://schemas.microsoft.com/office/drawing/2014/main" id="{7DF68474-68C5-4CA1-BF34-4D89F06D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4958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耗时下降〔%〕</a:t>
            </a:r>
          </a:p>
        </p:txBody>
      </p:sp>
      <p:sp>
        <p:nvSpPr>
          <p:cNvPr id="52" name="v3-efficiency-sample">
            <a:extLst xmlns:a="http://schemas.openxmlformats.org/drawingml/2006/main">
              <a:ext uri="{FF2B5EF4-FFF2-40B4-BE49-F238E27FC236}">
                <a16:creationId xmlns:a16="http://schemas.microsoft.com/office/drawing/2014/main" id="{19238F28-E618-4CBB-86E7-34B7792F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57750"/>
            <a:ext cx="238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163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同口径样本数：〔N〕条</a:t>
            </a:r>
          </a:p>
        </p:txBody>
      </p:sp>
      <p:sp>
        <p:nvSpPr>
          <p:cNvPr id="53" name="v3-evidence-rule">
            <a:extLst xmlns:a="http://schemas.openxmlformats.org/drawingml/2006/main">
              <a:ext uri="{FF2B5EF4-FFF2-40B4-BE49-F238E27FC236}">
                <a16:creationId xmlns:a16="http://schemas.microsoft.com/office/drawing/2014/main" id="{D6A3E0DF-DD22-4D67-857A-1A5E0AB4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20065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DCD4"/>
            </a:solidFill>
            <a:prstDash val="solid"/>
          </a:ln>
        </p:spPr>
      </p:sp>
      <p:sp>
        <p:nvSpPr>
          <p:cNvPr id="54" name="v3-uml-heading">
            <a:extLst xmlns:a="http://schemas.openxmlformats.org/drawingml/2006/main">
              <a:ext uri="{FF2B5EF4-FFF2-40B4-BE49-F238E27FC236}">
                <a16:creationId xmlns:a16="http://schemas.microsoft.com/office/drawing/2014/main" id="{4F0FA0A5-EDCE-4126-A19A-D27FACFE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314950"/>
            <a:ext cx="3238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UML 类图</a:t>
            </a:r>
          </a:p>
        </p:txBody>
      </p:sp>
      <p:sp>
        <p:nvSpPr>
          <p:cNvPr id="55" name="v3-uml-vulnerability-frame">
            <a:extLst xmlns:a="http://schemas.openxmlformats.org/drawingml/2006/main">
              <a:ext uri="{FF2B5EF4-FFF2-40B4-BE49-F238E27FC236}">
                <a16:creationId xmlns:a16="http://schemas.microsoft.com/office/drawing/2014/main" id="{E93702E3-5E78-46C5-BF1E-6AF958B3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667375"/>
            <a:ext cx="1238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6AD96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56" name="v3-uml-ticket-frame">
            <a:extLst xmlns:a="http://schemas.openxmlformats.org/drawingml/2006/main">
              <a:ext uri="{FF2B5EF4-FFF2-40B4-BE49-F238E27FC236}">
                <a16:creationId xmlns:a16="http://schemas.microsoft.com/office/drawing/2014/main" id="{FAE9147C-AE7A-4866-94AC-0289484C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667375"/>
            <a:ext cx="1238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6AD96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57" name="v3-uml-vulnerability-title">
            <a:extLst xmlns:a="http://schemas.openxmlformats.org/drawingml/2006/main">
              <a:ext uri="{FF2B5EF4-FFF2-40B4-BE49-F238E27FC236}">
                <a16:creationId xmlns:a16="http://schemas.microsoft.com/office/drawing/2014/main" id="{715F180F-C468-4047-81D0-596878F4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9595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漏洞</a:t>
            </a:r>
          </a:p>
        </p:txBody>
      </p:sp>
      <p:sp>
        <p:nvSpPr>
          <p:cNvPr id="58" name="v3-uml-ticket-title">
            <a:extLst xmlns:a="http://schemas.openxmlformats.org/drawingml/2006/main">
              <a:ext uri="{FF2B5EF4-FFF2-40B4-BE49-F238E27FC236}">
                <a16:creationId xmlns:a16="http://schemas.microsoft.com/office/drawing/2014/main" id="{F0A024DB-D5B1-4133-B2B2-C775A9EB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9595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工单</a:t>
            </a:r>
          </a:p>
        </p:txBody>
      </p:sp>
      <p:sp>
        <p:nvSpPr>
          <p:cNvPr id="59" name="v3-uml-vulnerability-rule">
            <a:extLst xmlns:a="http://schemas.openxmlformats.org/drawingml/2006/main">
              <a:ext uri="{FF2B5EF4-FFF2-40B4-BE49-F238E27FC236}">
                <a16:creationId xmlns:a16="http://schemas.microsoft.com/office/drawing/2014/main" id="{38AB74A8-667D-46A1-9F60-36B6F876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97217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6AD96"/>
            </a:solidFill>
            <a:prstDash val="solid"/>
          </a:ln>
        </p:spPr>
      </p:sp>
      <p:sp>
        <p:nvSpPr>
          <p:cNvPr id="60" name="v3-uml-ticket-rule">
            <a:extLst xmlns:a="http://schemas.openxmlformats.org/drawingml/2006/main">
              <a:ext uri="{FF2B5EF4-FFF2-40B4-BE49-F238E27FC236}">
                <a16:creationId xmlns:a16="http://schemas.microsoft.com/office/drawing/2014/main" id="{EF5C124B-9C49-49EC-B963-AD4AC828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97217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6AD96"/>
            </a:solidFill>
            <a:prstDash val="solid"/>
          </a:ln>
        </p:spPr>
      </p:sp>
      <p:sp>
        <p:nvSpPr>
          <p:cNvPr id="61" name="v3-uml-vulnerability-fields">
            <a:extLst xmlns:a="http://schemas.openxmlformats.org/drawingml/2006/main">
              <a:ext uri="{FF2B5EF4-FFF2-40B4-BE49-F238E27FC236}">
                <a16:creationId xmlns:a16="http://schemas.microsoft.com/office/drawing/2014/main" id="{802B5072-9999-41AD-B46D-0DBBF577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048375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编号 · 风险等级</a:t>
            </a:r>
          </a:p>
          <a:p xmlns:a="http://schemas.openxmlformats.org/drawingml/2006/main">
            <a: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处置状态</a:t>
            </a:r>
          </a:p>
        </p:txBody>
      </p:sp>
      <p:sp>
        <p:nvSpPr>
          <p:cNvPr id="62" name="v3-uml-ticket-fields">
            <a:extLst xmlns:a="http://schemas.openxmlformats.org/drawingml/2006/main">
              <a:ext uri="{FF2B5EF4-FFF2-40B4-BE49-F238E27FC236}">
                <a16:creationId xmlns:a16="http://schemas.microsoft.com/office/drawing/2014/main" id="{93A70CB4-9FC9-47A8-8D9D-CF844785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048375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责任人 · 时限</a:t>
            </a:r>
          </a:p>
          <a:p xmlns:a="http://schemas.openxmlformats.org/drawingml/2006/main">
            <a:pPr algn="l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复测结果</a:t>
            </a:r>
          </a:p>
        </p:txBody>
      </p:sp>
      <p:sp>
        <p:nvSpPr>
          <p:cNvPr id="63" name="v3-uml-association">
            <a:extLst xmlns:a="http://schemas.openxmlformats.org/drawingml/2006/main">
              <a:ext uri="{FF2B5EF4-FFF2-40B4-BE49-F238E27FC236}">
                <a16:creationId xmlns:a16="http://schemas.microsoft.com/office/drawing/2014/main" id="{19217666-AAD2-4C45-A3EC-15929A8F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124575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6AD96"/>
            </a:solidFill>
            <a:prstDash val="solid"/>
          </a:ln>
        </p:spPr>
      </p:sp>
      <p:sp>
        <p:nvSpPr>
          <p:cNvPr id="64" name="v3-uml-one">
            <a:extLst xmlns:a="http://schemas.openxmlformats.org/drawingml/2006/main">
              <a:ext uri="{FF2B5EF4-FFF2-40B4-BE49-F238E27FC236}">
                <a16:creationId xmlns:a16="http://schemas.microsoft.com/office/drawing/2014/main" id="{07CE4B87-BF32-4D4F-9215-B2096F50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915025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65" name="v3-uml-many">
            <a:extLst xmlns:a="http://schemas.openxmlformats.org/drawingml/2006/main">
              <a:ext uri="{FF2B5EF4-FFF2-40B4-BE49-F238E27FC236}">
                <a16:creationId xmlns:a16="http://schemas.microsoft.com/office/drawing/2014/main" id="{BBAEA354-4972-4341-B1D8-2631592D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5915025"/>
            <a:ext cx="114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*</a:t>
            </a:r>
          </a:p>
        </p:txBody>
      </p:sp>
      <p:sp>
        <p:nvSpPr>
          <p:cNvPr id="66" name="v3-sequence-heading">
            <a:extLst xmlns:a="http://schemas.openxmlformats.org/drawingml/2006/main">
              <a:ext uri="{FF2B5EF4-FFF2-40B4-BE49-F238E27FC236}">
                <a16:creationId xmlns:a16="http://schemas.microsoft.com/office/drawing/2014/main" id="{3A8964DF-4209-4714-AB3B-80DB0181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314950"/>
            <a:ext cx="3905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时序图</a:t>
            </a:r>
          </a:p>
        </p:txBody>
      </p:sp>
      <p:sp>
        <p:nvSpPr>
          <p:cNvPr id="67" name="v3-sequence-actor-0">
            <a:extLst xmlns:a="http://schemas.openxmlformats.org/drawingml/2006/main">
              <a:ext uri="{FF2B5EF4-FFF2-40B4-BE49-F238E27FC236}">
                <a16:creationId xmlns:a16="http://schemas.microsoft.com/office/drawing/2014/main" id="{44AEF5A6-E09D-4D04-9BCF-7EF95520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667375"/>
            <a:ext cx="876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0E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提交者</a:t>
            </a:r>
          </a:p>
        </p:txBody>
      </p:sp>
      <p:sp>
        <p:nvSpPr>
          <p:cNvPr id="68" name="v3-sequence-life-0">
            <a:extLst xmlns:a="http://schemas.openxmlformats.org/drawingml/2006/main">
              <a:ext uri="{FF2B5EF4-FFF2-40B4-BE49-F238E27FC236}">
                <a16:creationId xmlns:a16="http://schemas.microsoft.com/office/drawing/2014/main" id="{DE0110BA-CD63-4D13-85EC-D8D882D6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953125"/>
            <a:ext cx="0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6AD96"/>
            </a:solidFill>
            <a:prstDash val="dash"/>
          </a:ln>
        </p:spPr>
      </p:sp>
      <p:sp>
        <p:nvSpPr>
          <p:cNvPr id="69" name="v3-sequence-actor-1">
            <a:extLst xmlns:a="http://schemas.openxmlformats.org/drawingml/2006/main">
              <a:ext uri="{FF2B5EF4-FFF2-40B4-BE49-F238E27FC236}">
                <a16:creationId xmlns:a16="http://schemas.microsoft.com/office/drawing/2014/main" id="{ABFD69F1-16B8-4D9C-995F-E90F14B6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5667375"/>
            <a:ext cx="876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0E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70" name="v3-sequence-life-1">
            <a:extLst xmlns:a="http://schemas.openxmlformats.org/drawingml/2006/main">
              <a:ext uri="{FF2B5EF4-FFF2-40B4-BE49-F238E27FC236}">
                <a16:creationId xmlns:a16="http://schemas.microsoft.com/office/drawing/2014/main" id="{104B423C-4553-4BBE-B021-12323D4E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5953125"/>
            <a:ext cx="0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6AD96"/>
            </a:solidFill>
            <a:prstDash val="dash"/>
          </a:ln>
        </p:spPr>
      </p:sp>
      <p:sp>
        <p:nvSpPr>
          <p:cNvPr id="71" name="v3-sequence-actor-2">
            <a:extLst xmlns:a="http://schemas.openxmlformats.org/drawingml/2006/main">
              <a:ext uri="{FF2B5EF4-FFF2-40B4-BE49-F238E27FC236}">
                <a16:creationId xmlns:a16="http://schemas.microsoft.com/office/drawing/2014/main" id="{3E047C21-1F52-48E2-8FF4-65BF9F50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67375"/>
            <a:ext cx="876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0E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rPr>
              <a:t>处理人</a:t>
            </a:r>
          </a:p>
        </p:txBody>
      </p:sp>
      <p:sp>
        <p:nvSpPr>
          <p:cNvPr id="72" name="v3-sequence-life-2">
            <a:extLst xmlns:a="http://schemas.openxmlformats.org/drawingml/2006/main">
              <a:ext uri="{FF2B5EF4-FFF2-40B4-BE49-F238E27FC236}">
                <a16:creationId xmlns:a16="http://schemas.microsoft.com/office/drawing/2014/main" id="{DF52CFFA-598C-4D3E-9091-C9D936E7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953125"/>
            <a:ext cx="0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6AD96"/>
            </a:solidFill>
            <a:prstDash val="dash"/>
          </a:ln>
        </p:spPr>
      </p:sp>
      <p:cxnSp>
        <p:nvCxnSpPr>
          <p:cNvPr id="73" name="v3-sequence-message-0">
            <a:extLst xmlns:a="http://schemas.openxmlformats.org/drawingml/2006/main">
              <a:ext uri="{FF2B5EF4-FFF2-40B4-BE49-F238E27FC236}">
                <a16:creationId xmlns:a16="http://schemas.microsoft.com/office/drawing/2014/main" id="{3091C1C5-C746-4092-9A78-55FB1B2BFC44}"/>
              </a:ext>
            </a:extLst>
          </p:cNvPr>
          <p:cNvCxnSpPr/>
          <p:nvPr/>
        </p:nvCxnSpPr>
        <p:spPr>
          <a:xfrm xmlns:a="http://schemas.openxmlformats.org/drawingml/2006/main" flipH="0">
            <a:off x="4362450" y="6096000"/>
            <a:ext cx="1514475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C6AD96"/>
            </a:solidFill>
            <a:tailEnd type="triangle" w="sm" len="sm"/>
          </a:ln>
        </p:spPr>
      </p:cxnSp>
      <p:sp>
        <p:nvSpPr>
          <p:cNvPr id="74" name="v3-sequence-message-label-0">
            <a:extLst xmlns:a="http://schemas.openxmlformats.org/drawingml/2006/main">
              <a:ext uri="{FF2B5EF4-FFF2-40B4-BE49-F238E27FC236}">
                <a16:creationId xmlns:a16="http://schemas.microsoft.com/office/drawing/2014/main" id="{F8396F53-7EED-446C-A806-76D73697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915025"/>
            <a:ext cx="1209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上报</a:t>
            </a:r>
          </a:p>
        </p:txBody>
      </p:sp>
      <p:cxnSp>
        <p:nvCxnSpPr>
          <p:cNvPr id="75" name="v3-sequence-message-1">
            <a:extLst xmlns:a="http://schemas.openxmlformats.org/drawingml/2006/main">
              <a:ext uri="{FF2B5EF4-FFF2-40B4-BE49-F238E27FC236}">
                <a16:creationId xmlns:a16="http://schemas.microsoft.com/office/drawing/2014/main" id="{BB9BF69C-1D8D-4467-829A-3CAA8426C5C0}"/>
              </a:ext>
            </a:extLst>
          </p:cNvPr>
          <p:cNvCxnSpPr/>
          <p:nvPr/>
        </p:nvCxnSpPr>
        <p:spPr>
          <a:xfrm xmlns:a="http://schemas.openxmlformats.org/drawingml/2006/main" flipH="0">
            <a:off x="5876925" y="6296025"/>
            <a:ext cx="1514475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C6AD96"/>
            </a:solidFill>
            <a:tailEnd type="triangle" w="sm" len="sm"/>
          </a:ln>
        </p:spPr>
      </p:cxnSp>
      <p:sp>
        <p:nvSpPr>
          <p:cNvPr id="76" name="v3-sequence-message-label-1">
            <a:extLst xmlns:a="http://schemas.openxmlformats.org/drawingml/2006/main">
              <a:ext uri="{FF2B5EF4-FFF2-40B4-BE49-F238E27FC236}">
                <a16:creationId xmlns:a16="http://schemas.microsoft.com/office/drawing/2014/main" id="{0C192969-F8E9-4455-90A5-58414D15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6115050"/>
            <a:ext cx="1209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分派</a:t>
            </a:r>
          </a:p>
        </p:txBody>
      </p:sp>
      <p:sp>
        <p:nvSpPr>
          <p:cNvPr id="77" name="v3-web-heading">
            <a:extLst xmlns:a="http://schemas.openxmlformats.org/drawingml/2006/main">
              <a:ext uri="{FF2B5EF4-FFF2-40B4-BE49-F238E27FC236}">
                <a16:creationId xmlns:a16="http://schemas.microsoft.com/office/drawing/2014/main" id="{E8D57F3B-8C27-4C26-9396-53430A52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314950"/>
            <a:ext cx="3467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A96230"/>
                </a:solidFill>
                <a:latin typeface="PingFang SC"/>
                <a:ea typeface="PingFang SC"/>
                <a:cs typeface="PingFang SC"/>
              </a:rPr>
              <a:t>网页展示</a:t>
            </a:r>
          </a:p>
        </p:txBody>
      </p:sp>
      <p:sp>
        <p:nvSpPr>
          <p:cNvPr id="78" name="v3-web-placeholder">
            <a:extLst xmlns:a="http://schemas.openxmlformats.org/drawingml/2006/main">
              <a:ext uri="{FF2B5EF4-FFF2-40B4-BE49-F238E27FC236}">
                <a16:creationId xmlns:a16="http://schemas.microsoft.com/office/drawing/2014/main" id="{CDB8DE69-26D4-4AB4-BBF6-BD89F8EF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667375"/>
            <a:ext cx="3467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7F4"/>
          </a:solidFill>
          <a:ln xmlns:a="http://schemas.openxmlformats.org/drawingml/2006/main" w="9525">
            <a:solidFill>
              <a:srgbClr val="E4DCD4"/>
            </a:solidFill>
            <a:prstDash val="dash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〔插入系统网页截图〕</a:t>
            </a:r>
          </a:p>
          <a:p xmlns:a="http://schemas.openxmlformats.org/drawingml/2006/main">
            <a:pPr algn="ctr">
              <a:defRPr sz="1275" b="1">
                <a:solidFill>
                  <a:srgbClr val="273C4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〔标注关键页面与功能〕</a:t>
            </a:r>
          </a:p>
        </p:txBody>
      </p:sp>
      <p:sp>
        <p:nvSpPr>
          <p:cNvPr id="79" name="v3-note">
            <a:extLst xmlns:a="http://schemas.openxmlformats.org/drawingml/2006/main">
              <a:ext uri="{FF2B5EF4-FFF2-40B4-BE49-F238E27FC236}">
                <a16:creationId xmlns:a16="http://schemas.microsoft.com/office/drawing/2014/main" id="{43923858-B978-4E58-87C2-D4F10189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657975"/>
            <a:ext cx="6858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图示为方案示意，数据与截图待填写</a:t>
            </a:r>
          </a:p>
        </p:txBody>
      </p:sp>
      <p:sp>
        <p:nvSpPr>
          <p:cNvPr id="80" name="v3-footer">
            <a:extLst xmlns:a="http://schemas.openxmlformats.org/drawingml/2006/main">
              <a:ext uri="{FF2B5EF4-FFF2-40B4-BE49-F238E27FC236}">
                <a16:creationId xmlns:a16="http://schemas.microsoft.com/office/drawing/2014/main" id="{356F3C89-6482-4379-889D-11024A23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657975"/>
            <a:ext cx="4286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汇报人：〔姓名〕  |  日期：〔日期〕</a:t>
            </a:r>
          </a:p>
        </p:txBody>
      </p:sp>
      <p:cxnSp>
        <p:nvCxnSpPr>
          <p:cNvPr id="81" name="v3-sequence-return">
            <a:extLst xmlns:a="http://schemas.openxmlformats.org/drawingml/2006/main">
              <a:ext uri="{FF2B5EF4-FFF2-40B4-BE49-F238E27FC236}">
                <a16:creationId xmlns:a16="http://schemas.microsoft.com/office/drawing/2014/main" id="{FF56CADA-6230-4C03-BF03-6D60F5C4AB85}"/>
              </a:ext>
            </a:extLst>
          </p:cNvPr>
          <p:cNvCxnSpPr/>
          <p:nvPr/>
        </p:nvCxnSpPr>
        <p:spPr>
          <a:xfrm xmlns:a="http://schemas.openxmlformats.org/drawingml/2006/main" flipH="1">
            <a:off x="5876925" y="6496050"/>
            <a:ext cx="1514475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C6AD96"/>
            </a:solidFill>
            <a:tailEnd type="triangle" w="sm" len="sm"/>
          </a:ln>
        </p:spPr>
      </p:cxnSp>
      <p:sp>
        <p:nvSpPr>
          <p:cNvPr id="82" name="v3-sequence-return-label">
            <a:extLst xmlns:a="http://schemas.openxmlformats.org/drawingml/2006/main">
              <a:ext uri="{FF2B5EF4-FFF2-40B4-BE49-F238E27FC236}">
                <a16:creationId xmlns:a16="http://schemas.microsoft.com/office/drawing/2014/main" id="{D6ED6E39-4682-4C51-8378-95CAD988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6315075"/>
            <a:ext cx="1209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defRPr>
            </a:pPr>
            <a:r>
              <a:rPr sz="1088">
                <a:solidFill>
                  <a:srgbClr val="6F7E87"/>
                </a:solidFill>
                <a:latin typeface="PingFang SC"/>
                <a:ea typeface="PingFang SC"/>
                <a:cs typeface="PingFang SC"/>
              </a:rPr>
              <a:t>回传</a:t>
            </a:r>
          </a:p>
        </p:txBody>
      </p:sp>
    </p:spTree>
    <p:extLst>
      <p:ext uri="{BB962C8B-B14F-4D97-AF65-F5344CB8AC3E}">
        <p14:creationId xmlns:p14="http://schemas.microsoft.com/office/powerpoint/2010/main" val="19789775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5203B-54B5-4804-91EF-8EF1597B85F2}"/>
              </a:ext>
            </a:extLst>
          </p:cNvPr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867900" y="17621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C9BB6"/>
            </a:solidFill>
            <a:tailEnd type="triangle" w="sm" len="sm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236D6-73F8-4133-A136-80C54E0F590A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924800" y="17621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C9BB6"/>
            </a:solidFill>
            <a:tailEnd type="triangle" w="sm" len="sm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D5DD4-B1EA-46C1-99F6-4D5CAE52BD7F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981700" y="17621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C9BB6"/>
            </a:solidFill>
            <a:tailEnd type="triangle" w="sm" len="sm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16F3CC-08F6-4D30-8D11-582031BB49D3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038600" y="17621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C9BB6"/>
            </a:solidFill>
            <a:tailEnd type="triangle" w="sm" len="sm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DC4C3B-1870-425A-8D98-B91091C39A0C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095500" y="17621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C9BB6"/>
            </a:solidFill>
            <a:tailEnd type="triangle" w="sm" len="sm"/>
          </a:ln>
        </p:spPr>
      </p:cxnSp>
      <p:sp>
        <p:nvSpPr>
          <p:cNvPr id="7" name="dts-title">
            <a:extLst xmlns:a="http://schemas.openxmlformats.org/drawingml/2006/main">
              <a:ext uri="{FF2B5EF4-FFF2-40B4-BE49-F238E27FC236}">
                <a16:creationId xmlns:a16="http://schemas.microsoft.com/office/drawing/2014/main" id="{DD5BCA79-2E29-4DBE-ACEE-4963A5CA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6700"/>
            <a:ext cx="981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DTS 无影响漏洞自动走单</a:t>
            </a:r>
          </a:p>
        </p:txBody>
      </p:sp>
      <p:sp>
        <p:nvSpPr>
          <p:cNvPr id="8" name="dts-report-type">
            <a:extLst xmlns:a="http://schemas.openxmlformats.org/drawingml/2006/main">
              <a:ext uri="{FF2B5EF4-FFF2-40B4-BE49-F238E27FC236}">
                <a16:creationId xmlns:a16="http://schemas.microsoft.com/office/drawing/2014/main" id="{CE5AED0F-C1CC-4E69-8CCF-E2F42845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0050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中期汇报</a:t>
            </a:r>
          </a:p>
        </p:txBody>
      </p:sp>
      <p:sp>
        <p:nvSpPr>
          <p:cNvPr id="9" name="dts-main-work">
            <a:extLst xmlns:a="http://schemas.openxmlformats.org/drawingml/2006/main">
              <a:ext uri="{FF2B5EF4-FFF2-40B4-BE49-F238E27FC236}">
                <a16:creationId xmlns:a16="http://schemas.microsoft.com/office/drawing/2014/main" id="{E7926000-7644-46EE-8688-4B845B80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57275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主要工作｜自动走单链路</a:t>
            </a:r>
          </a:p>
        </p:txBody>
      </p:sp>
      <p:sp>
        <p:nvSpPr>
          <p:cNvPr id="10" name="dts-step-0">
            <a:extLst xmlns:a="http://schemas.openxmlformats.org/drawingml/2006/main">
              <a:ext uri="{FF2B5EF4-FFF2-40B4-BE49-F238E27FC236}">
                <a16:creationId xmlns:a16="http://schemas.microsoft.com/office/drawing/2014/main" id="{CB99DEAD-11D3-453E-92B6-9F9985CE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524000"/>
            <a:ext cx="171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基线读取</a:t>
            </a:r>
          </a:p>
        </p:txBody>
      </p:sp>
      <p:sp>
        <p:nvSpPr>
          <p:cNvPr id="11" name="dts-step-detail-0">
            <a:extLst xmlns:a="http://schemas.openxmlformats.org/drawingml/2006/main">
              <a:ext uri="{FF2B5EF4-FFF2-40B4-BE49-F238E27FC236}">
                <a16:creationId xmlns:a16="http://schemas.microsoft.com/office/drawing/2014/main" id="{246ADE97-F2B9-4A37-8615-280FE8F1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FTP 下载基线</a:t>
            </a:r>
          </a:p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关联基线与评审数据</a:t>
            </a:r>
          </a:p>
        </p:txBody>
      </p:sp>
      <p:sp>
        <p:nvSpPr>
          <p:cNvPr id="12" name="dts-step-1">
            <a:extLst xmlns:a="http://schemas.openxmlformats.org/drawingml/2006/main">
              <a:ext uri="{FF2B5EF4-FFF2-40B4-BE49-F238E27FC236}">
                <a16:creationId xmlns:a16="http://schemas.microsoft.com/office/drawing/2014/main" id="{C26A90F6-DF54-4C3E-B652-8DD20A6D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524000"/>
            <a:ext cx="171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候选筛选</a:t>
            </a:r>
          </a:p>
        </p:txBody>
      </p:sp>
      <p:sp>
        <p:nvSpPr>
          <p:cNvPr id="13" name="dts-step-detail-1">
            <a:extLst xmlns:a="http://schemas.openxmlformats.org/drawingml/2006/main">
              <a:ext uri="{FF2B5EF4-FFF2-40B4-BE49-F238E27FC236}">
                <a16:creationId xmlns:a16="http://schemas.microsoft.com/office/drawing/2014/main" id="{E8F7426F-0A58-42A5-8D30-3E9B054D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9550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无影响 + 已评审</a:t>
            </a:r>
          </a:p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“已走单”为空</a:t>
            </a:r>
          </a:p>
        </p:txBody>
      </p:sp>
      <p:sp>
        <p:nvSpPr>
          <p:cNvPr id="14" name="dts-step-2">
            <a:extLst xmlns:a="http://schemas.openxmlformats.org/drawingml/2006/main">
              <a:ext uri="{FF2B5EF4-FFF2-40B4-BE49-F238E27FC236}">
                <a16:creationId xmlns:a16="http://schemas.microsoft.com/office/drawing/2014/main" id="{BAAF1E04-A2A1-401F-8177-2E7F1D51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171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去重预检</a:t>
            </a:r>
          </a:p>
        </p:txBody>
      </p:sp>
      <p:sp>
        <p:nvSpPr>
          <p:cNvPr id="15" name="dts-step-detail-2">
            <a:extLst xmlns:a="http://schemas.openxmlformats.org/drawingml/2006/main">
              <a:ext uri="{FF2B5EF4-FFF2-40B4-BE49-F238E27FC236}">
                <a16:creationId xmlns:a16="http://schemas.microsoft.com/office/drawing/2014/main" id="{B548F344-E971-4A88-B42B-83B2450D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9550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PBI + HWPSIRT 去重</a:t>
            </a:r>
          </a:p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校验字段与证明文件</a:t>
            </a:r>
          </a:p>
        </p:txBody>
      </p:sp>
      <p:sp>
        <p:nvSpPr>
          <p:cNvPr id="16" name="dts-step-3">
            <a:extLst xmlns:a="http://schemas.openxmlformats.org/drawingml/2006/main">
              <a:ext uri="{FF2B5EF4-FFF2-40B4-BE49-F238E27FC236}">
                <a16:creationId xmlns:a16="http://schemas.microsoft.com/office/drawing/2014/main" id="{FA1630D7-1F02-452C-A3BA-08F32276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24000"/>
            <a:ext cx="171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材料上传</a:t>
            </a:r>
          </a:p>
        </p:txBody>
      </p:sp>
      <p:sp>
        <p:nvSpPr>
          <p:cNvPr id="17" name="dts-step-detail-3">
            <a:extLst xmlns:a="http://schemas.openxmlformats.org/drawingml/2006/main">
              <a:ext uri="{FF2B5EF4-FFF2-40B4-BE49-F238E27FC236}">
                <a16:creationId xmlns:a16="http://schemas.microsoft.com/office/drawing/2014/main" id="{4B1A7ACD-3F05-414B-80E6-C94CEBD3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统一获取 Token</a:t>
            </a:r>
          </a:p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相同材料缓存复用</a:t>
            </a:r>
          </a:p>
        </p:txBody>
      </p:sp>
      <p:sp>
        <p:nvSpPr>
          <p:cNvPr id="18" name="dts-step-4">
            <a:extLst xmlns:a="http://schemas.openxmlformats.org/drawingml/2006/main">
              <a:ext uri="{FF2B5EF4-FFF2-40B4-BE49-F238E27FC236}">
                <a16:creationId xmlns:a16="http://schemas.microsoft.com/office/drawing/2014/main" id="{FFB0EA5A-4554-472F-9814-3C8603FC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24000"/>
            <a:ext cx="171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DTS 走单</a:t>
            </a:r>
          </a:p>
        </p:txBody>
      </p:sp>
      <p:sp>
        <p:nvSpPr>
          <p:cNvPr id="19" name="dts-step-detail-4">
            <a:extLst xmlns:a="http://schemas.openxmlformats.org/drawingml/2006/main">
              <a:ext uri="{FF2B5EF4-FFF2-40B4-BE49-F238E27FC236}">
                <a16:creationId xmlns:a16="http://schemas.microsoft.com/office/drawing/2014/main" id="{61B8E109-E4C1-4D17-827C-4EE09658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9550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调用 Dify 工作流</a:t>
            </a:r>
          </a:p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按业务返回判定结果</a:t>
            </a:r>
          </a:p>
        </p:txBody>
      </p:sp>
      <p:sp>
        <p:nvSpPr>
          <p:cNvPr id="20" name="dts-step-5">
            <a:extLst xmlns:a="http://schemas.openxmlformats.org/drawingml/2006/main">
              <a:ext uri="{FF2B5EF4-FFF2-40B4-BE49-F238E27FC236}">
                <a16:creationId xmlns:a16="http://schemas.microsoft.com/office/drawing/2014/main" id="{A7A9F141-C10A-414A-ABAA-6F864CD8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524000"/>
            <a:ext cx="171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结果汇总</a:t>
            </a:r>
          </a:p>
        </p:txBody>
      </p:sp>
      <p:sp>
        <p:nvSpPr>
          <p:cNvPr id="21" name="dts-step-detail-5">
            <a:extLst xmlns:a="http://schemas.openxmlformats.org/drawingml/2006/main">
              <a:ext uri="{FF2B5EF4-FFF2-40B4-BE49-F238E27FC236}">
                <a16:creationId xmlns:a16="http://schemas.microsoft.com/office/drawing/2014/main" id="{1AECD0C8-D8DD-4A65-8E80-7A735A6A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09550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日志与版本汇总</a:t>
            </a:r>
          </a:p>
          <a:p xmlns:a="http://schemas.openxmlformats.org/drawingml/2006/main">
            <a:pPr algn="ctr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小鲁班消息通知</a:t>
            </a:r>
          </a:p>
        </p:txBody>
      </p:sp>
      <p:sp>
        <p:nvSpPr>
          <p:cNvPr id="22" name="dts-horizontal-divider">
            <a:extLst xmlns:a="http://schemas.openxmlformats.org/drawingml/2006/main">
              <a:ext uri="{FF2B5EF4-FFF2-40B4-BE49-F238E27FC236}">
                <a16:creationId xmlns:a16="http://schemas.microsoft.com/office/drawing/2014/main" id="{9D833A5C-827E-429C-8139-85154979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0035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E4EC"/>
            </a:solidFill>
          </a:ln>
        </p:spPr>
      </p:sp>
      <p:sp>
        <p:nvSpPr>
          <p:cNvPr id="23" name="dts-left-divider">
            <a:extLst xmlns:a="http://schemas.openxmlformats.org/drawingml/2006/main">
              <a:ext uri="{FF2B5EF4-FFF2-40B4-BE49-F238E27FC236}">
                <a16:creationId xmlns:a16="http://schemas.microsoft.com/office/drawing/2014/main" id="{6D3561C9-A507-4B71-B6F6-284D2EE4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90850"/>
            <a:ext cx="0" cy="3257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E4EC"/>
            </a:solidFill>
          </a:ln>
        </p:spPr>
      </p:sp>
      <p:sp>
        <p:nvSpPr>
          <p:cNvPr id="24" name="dts-right-divider">
            <a:extLst xmlns:a="http://schemas.openxmlformats.org/drawingml/2006/main">
              <a:ext uri="{FF2B5EF4-FFF2-40B4-BE49-F238E27FC236}">
                <a16:creationId xmlns:a16="http://schemas.microsoft.com/office/drawing/2014/main" id="{846AA2B1-FF52-4F76-974B-2C104FF6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90850"/>
            <a:ext cx="0" cy="3257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E4EC"/>
            </a:solidFill>
          </a:ln>
        </p:spPr>
      </p:sp>
      <p:sp>
        <p:nvSpPr>
          <p:cNvPr id="25" name="dts-context-heading">
            <a:extLst xmlns:a="http://schemas.openxmlformats.org/drawingml/2006/main">
              <a:ext uri="{FF2B5EF4-FFF2-40B4-BE49-F238E27FC236}">
                <a16:creationId xmlns:a16="http://schemas.microsoft.com/office/drawing/2014/main" id="{352E8831-0603-4472-BF30-3A5436AA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95275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背景与挑战</a:t>
            </a:r>
          </a:p>
        </p:txBody>
      </p:sp>
      <p:sp>
        <p:nvSpPr>
          <p:cNvPr id="26" name="dts-background-label">
            <a:extLst xmlns:a="http://schemas.openxmlformats.org/drawingml/2006/main">
              <a:ext uri="{FF2B5EF4-FFF2-40B4-BE49-F238E27FC236}">
                <a16:creationId xmlns:a16="http://schemas.microsoft.com/office/drawing/2014/main" id="{779E9800-AA81-48AF-9D60-90CFAB1D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429000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业务背景</a:t>
            </a:r>
          </a:p>
        </p:txBody>
      </p:sp>
      <p:sp>
        <p:nvSpPr>
          <p:cNvPr id="27" name="dts-background">
            <a:extLst xmlns:a="http://schemas.openxmlformats.org/drawingml/2006/main">
              <a:ext uri="{FF2B5EF4-FFF2-40B4-BE49-F238E27FC236}">
                <a16:creationId xmlns:a16="http://schemas.microsoft.com/office/drawing/2014/main" id="{A97E8A9C-4985-4B51-BA9B-A4FE33C1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781425"/>
            <a:ext cx="27241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AOS 多版本漏洞重评估后，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需批量处理“无影响”漏洞；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人工核对与逐条走单耗时。</a:t>
            </a:r>
          </a:p>
        </p:txBody>
      </p:sp>
      <p:sp>
        <p:nvSpPr>
          <p:cNvPr id="28" name="dts-challenges-label">
            <a:extLst xmlns:a="http://schemas.openxmlformats.org/drawingml/2006/main">
              <a:ext uri="{FF2B5EF4-FFF2-40B4-BE49-F238E27FC236}">
                <a16:creationId xmlns:a16="http://schemas.microsoft.com/office/drawing/2014/main" id="{D62B1B3F-D7D8-4562-A903-D0EB2AF2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0125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关键挑战</a:t>
            </a:r>
          </a:p>
        </p:txBody>
      </p:sp>
      <p:sp>
        <p:nvSpPr>
          <p:cNvPr id="29" name="dts-challenges">
            <a:extLst xmlns:a="http://schemas.openxmlformats.org/drawingml/2006/main">
              <a:ext uri="{FF2B5EF4-FFF2-40B4-BE49-F238E27FC236}">
                <a16:creationId xmlns:a16="http://schemas.microsoft.com/office/drawing/2014/main" id="{5D7601E0-74D3-4328-BE9B-A8177834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162550"/>
            <a:ext cx="2724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多版本表格关联与去重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证明材料缺失或重复上传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执行状态与业务结果不一致</a:t>
            </a:r>
          </a:p>
        </p:txBody>
      </p:sp>
      <p:sp>
        <p:nvSpPr>
          <p:cNvPr id="30" name="dts-issues-heading">
            <a:extLst xmlns:a="http://schemas.openxmlformats.org/drawingml/2006/main">
              <a:ext uri="{FF2B5EF4-FFF2-40B4-BE49-F238E27FC236}">
                <a16:creationId xmlns:a16="http://schemas.microsoft.com/office/drawing/2014/main" id="{7C6DA860-ECC2-454C-8C40-F55BCFB2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52750"/>
            <a:ext cx="480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问题举例与处理</a:t>
            </a:r>
          </a:p>
        </p:txBody>
      </p:sp>
      <p:sp>
        <p:nvSpPr>
          <p:cNvPr id="31" name="dts-issue-1">
            <a:extLst xmlns:a="http://schemas.openxmlformats.org/drawingml/2006/main">
              <a:ext uri="{FF2B5EF4-FFF2-40B4-BE49-F238E27FC236}">
                <a16:creationId xmlns:a16="http://schemas.microsoft.com/office/drawing/2014/main" id="{E51E7399-956D-457D-95B8-630A980B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290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工作流成功，但 DTS 单号为空</a:t>
            </a:r>
          </a:p>
        </p:txBody>
      </p:sp>
      <p:sp>
        <p:nvSpPr>
          <p:cNvPr id="32" name="dts-solution-1">
            <a:extLst xmlns:a="http://schemas.openxmlformats.org/drawingml/2006/main">
              <a:ext uri="{FF2B5EF4-FFF2-40B4-BE49-F238E27FC236}">
                <a16:creationId xmlns:a16="http://schemas.microsoft.com/office/drawing/2014/main" id="{1218566A-629A-4FD8-B841-04B6C09B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781425"/>
            <a:ext cx="480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解析 dtsNo 与错误输出，以业务结果判定成功。</a:t>
            </a:r>
          </a:p>
        </p:txBody>
      </p:sp>
      <p:sp>
        <p:nvSpPr>
          <p:cNvPr id="33" name="dts-issue-2">
            <a:extLst xmlns:a="http://schemas.openxmlformats.org/drawingml/2006/main">
              <a:ext uri="{FF2B5EF4-FFF2-40B4-BE49-F238E27FC236}">
                <a16:creationId xmlns:a16="http://schemas.microsoft.com/office/drawing/2014/main" id="{D70A13BD-35FA-4407-A051-E3F05FAB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352925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任务已收到，但 MongoDB 查询为空</a:t>
            </a:r>
          </a:p>
        </p:txBody>
      </p:sp>
      <p:sp>
        <p:nvSpPr>
          <p:cNvPr id="34" name="dts-solution-2">
            <a:extLst xmlns:a="http://schemas.openxmlformats.org/drawingml/2006/main">
              <a:ext uri="{FF2B5EF4-FFF2-40B4-BE49-F238E27FC236}">
                <a16:creationId xmlns:a16="http://schemas.microsoft.com/office/drawing/2014/main" id="{173BF517-5B6B-4C59-AD13-17FA8F5A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705350"/>
            <a:ext cx="4800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已定位创建端与消费端数据源不一致；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统一连接配置后需进一步验证。</a:t>
            </a:r>
          </a:p>
        </p:txBody>
      </p:sp>
      <p:sp>
        <p:nvSpPr>
          <p:cNvPr id="35" name="dts-issue-3">
            <a:extLst xmlns:a="http://schemas.openxmlformats.org/drawingml/2006/main">
              <a:ext uri="{FF2B5EF4-FFF2-40B4-BE49-F238E27FC236}">
                <a16:creationId xmlns:a16="http://schemas.microsoft.com/office/drawing/2014/main" id="{BBCE4524-89A1-47D5-B029-10799F58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39115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证明文件缺失，影响批量任务</a:t>
            </a:r>
          </a:p>
        </p:txBody>
      </p:sp>
      <p:sp>
        <p:nvSpPr>
          <p:cNvPr id="36" name="dts-solution-3">
            <a:extLst xmlns:a="http://schemas.openxmlformats.org/drawingml/2006/main">
              <a:ext uri="{FF2B5EF4-FFF2-40B4-BE49-F238E27FC236}">
                <a16:creationId xmlns:a16="http://schemas.microsoft.com/office/drawing/2014/main" id="{87A13CF2-9AFD-4681-A35D-9C5E0301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743575"/>
            <a:ext cx="4800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预检查拦截并记录原因，隔离单条异常，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继续处理其余记录。</a:t>
            </a:r>
          </a:p>
        </p:txBody>
      </p:sp>
      <p:sp>
        <p:nvSpPr>
          <p:cNvPr id="37" name="dts-outcome-heading">
            <a:extLst xmlns:a="http://schemas.openxmlformats.org/drawingml/2006/main">
              <a:ext uri="{FF2B5EF4-FFF2-40B4-BE49-F238E27FC236}">
                <a16:creationId xmlns:a16="http://schemas.microsoft.com/office/drawing/2014/main" id="{4F335D1E-0CDE-45D5-921F-895C1ED9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52750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工作输出与收获</a:t>
            </a:r>
          </a:p>
        </p:txBody>
      </p:sp>
      <p:sp>
        <p:nvSpPr>
          <p:cNvPr id="38" name="dts-output-label">
            <a:extLst xmlns:a="http://schemas.openxmlformats.org/drawingml/2006/main">
              <a:ext uri="{FF2B5EF4-FFF2-40B4-BE49-F238E27FC236}">
                <a16:creationId xmlns:a16="http://schemas.microsoft.com/office/drawing/2014/main" id="{32D505AF-D401-4300-8ACE-2BD64621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2900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工作输出</a:t>
            </a:r>
          </a:p>
        </p:txBody>
      </p:sp>
      <p:sp>
        <p:nvSpPr>
          <p:cNvPr id="39" name="dts-outputs">
            <a:extLst xmlns:a="http://schemas.openxmlformats.org/drawingml/2006/main">
              <a:ext uri="{FF2B5EF4-FFF2-40B4-BE49-F238E27FC236}">
                <a16:creationId xmlns:a16="http://schemas.microsoft.com/office/drawing/2014/main" id="{B40BFCCD-5A17-4F42-B250-649C2E44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81425"/>
            <a:ext cx="2876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自动走单服务与定时调度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逐条结果、日志与版本汇总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小鲁班通知</a:t>
            </a:r>
          </a:p>
        </p:txBody>
      </p:sp>
      <p:sp>
        <p:nvSpPr>
          <p:cNvPr id="40" name="dts-learning-label">
            <a:extLst xmlns:a="http://schemas.openxmlformats.org/drawingml/2006/main">
              <a:ext uri="{FF2B5EF4-FFF2-40B4-BE49-F238E27FC236}">
                <a16:creationId xmlns:a16="http://schemas.microsoft.com/office/drawing/2014/main" id="{C248A76A-ECEE-42D2-9573-93F73112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810125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工作收获</a:t>
            </a:r>
          </a:p>
        </p:txBody>
      </p:sp>
      <p:sp>
        <p:nvSpPr>
          <p:cNvPr id="41" name="dts-learnings">
            <a:extLst xmlns:a="http://schemas.openxmlformats.org/drawingml/2006/main">
              <a:ext uri="{FF2B5EF4-FFF2-40B4-BE49-F238E27FC236}">
                <a16:creationId xmlns:a16="http://schemas.microsoft.com/office/drawing/2014/main" id="{7028A8A6-34DE-48CD-AF3F-A854CE5A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162550"/>
            <a:ext cx="28765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Python 自动化与系统集成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Celery / MongoDB / Dify 实践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业务状态判定与异常定位</a:t>
            </a:r>
          </a:p>
        </p:txBody>
      </p:sp>
    </p:spTree>
    <p:extLst>
      <p:ext uri="{BB962C8B-B14F-4D97-AF65-F5344CB8AC3E}">
        <p14:creationId xmlns:p14="http://schemas.microsoft.com/office/powerpoint/2010/main" val="2230405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kyushu-value-band">
            <a:extLst xmlns:a="http://schemas.openxmlformats.org/drawingml/2006/main">
              <a:ext uri="{FF2B5EF4-FFF2-40B4-BE49-F238E27FC236}">
                <a16:creationId xmlns:a16="http://schemas.microsoft.com/office/drawing/2014/main" id="{087E18F4-D42B-4711-B348-DF01B2D6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372100"/>
            <a:ext cx="6972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kyushu-value-divider">
            <a:extLst xmlns:a="http://schemas.openxmlformats.org/drawingml/2006/main">
              <a:ext uri="{FF2B5EF4-FFF2-40B4-BE49-F238E27FC236}">
                <a16:creationId xmlns:a16="http://schemas.microsoft.com/office/drawing/2014/main" id="{14CFC3FB-5628-4D7A-AFF4-83C72780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84835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kyushu-divider-2">
            <a:extLst xmlns:a="http://schemas.openxmlformats.org/drawingml/2006/main">
              <a:ext uri="{FF2B5EF4-FFF2-40B4-BE49-F238E27FC236}">
                <a16:creationId xmlns:a16="http://schemas.microsoft.com/office/drawing/2014/main" id="{D1A487EB-2784-43D5-9F2C-DF044AD5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81125"/>
            <a:ext cx="0" cy="417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kyushu-divider-1">
            <a:extLst xmlns:a="http://schemas.openxmlformats.org/drawingml/2006/main">
              <a:ext uri="{FF2B5EF4-FFF2-40B4-BE49-F238E27FC236}">
                <a16:creationId xmlns:a16="http://schemas.microsoft.com/office/drawing/2014/main" id="{3EAD16C4-EC5E-4A1F-BB9B-B8185518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6680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kyushu-title">
            <a:extLst xmlns:a="http://schemas.openxmlformats.org/drawingml/2006/main">
              <a:ext uri="{FF2B5EF4-FFF2-40B4-BE49-F238E27FC236}">
                <a16:creationId xmlns:a16="http://schemas.microsoft.com/office/drawing/2014/main" id="{8DB862AA-0230-4156-8FBD-2B2F27E8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71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九州漏洞分析、修补试用与 IT 平台嵌入</a:t>
            </a:r>
          </a:p>
        </p:txBody>
      </p:sp>
      <p:sp>
        <p:nvSpPr>
          <p:cNvPr id="7" name="kyushu-report-type">
            <a:extLst xmlns:a="http://schemas.openxmlformats.org/drawingml/2006/main">
              <a:ext uri="{FF2B5EF4-FFF2-40B4-BE49-F238E27FC236}">
                <a16:creationId xmlns:a16="http://schemas.microsoft.com/office/drawing/2014/main" id="{0FDD436C-B26A-4826-94F4-14FB7926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38100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73808C"/>
                </a:solidFill>
                <a:latin typeface="PingFang SC"/>
                <a:ea typeface="PingFang SC"/>
                <a:cs typeface="PingFang SC"/>
              </a:rPr>
              <a:t>中期汇报</a:t>
            </a:r>
          </a:p>
        </p:txBody>
      </p:sp>
      <p:sp>
        <p:nvSpPr>
          <p:cNvPr id="8" name="kyushu-objective">
            <a:extLst xmlns:a="http://schemas.openxmlformats.org/drawingml/2006/main">
              <a:ext uri="{FF2B5EF4-FFF2-40B4-BE49-F238E27FC236}">
                <a16:creationId xmlns:a16="http://schemas.microsoft.com/office/drawing/2014/main" id="{98C84664-8490-4F43-8FB5-62D87416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4777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9" name="kyushu-stream-0">
            <a:extLst xmlns:a="http://schemas.openxmlformats.org/drawingml/2006/main">
              <a:ext uri="{FF2B5EF4-FFF2-40B4-BE49-F238E27FC236}">
                <a16:creationId xmlns:a16="http://schemas.microsoft.com/office/drawing/2014/main" id="{37227C3D-2FEB-4B23-8804-91840939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381125"/>
            <a:ext cx="3962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九州漏洞分析</a:t>
            </a:r>
          </a:p>
        </p:txBody>
      </p:sp>
      <p:sp>
        <p:nvSpPr>
          <p:cNvPr id="10" name="kyushu-stream-1">
            <a:extLst xmlns:a="http://schemas.openxmlformats.org/drawingml/2006/main">
              <a:ext uri="{FF2B5EF4-FFF2-40B4-BE49-F238E27FC236}">
                <a16:creationId xmlns:a16="http://schemas.microsoft.com/office/drawing/2014/main" id="{E190CD55-5F6C-4882-81FC-FB2E2414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8112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漏洞修补工程试用</a:t>
            </a:r>
          </a:p>
        </p:txBody>
      </p:sp>
      <p:sp>
        <p:nvSpPr>
          <p:cNvPr id="11" name="kyushu-stream-2">
            <a:extLst xmlns:a="http://schemas.openxmlformats.org/drawingml/2006/main">
              <a:ext uri="{FF2B5EF4-FFF2-40B4-BE49-F238E27FC236}">
                <a16:creationId xmlns:a16="http://schemas.microsoft.com/office/drawing/2014/main" id="{2AF7642B-85C4-4679-B4DB-622B740E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3962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IT 平台嵌入</a:t>
            </a:r>
          </a:p>
        </p:txBody>
      </p:sp>
      <p:sp>
        <p:nvSpPr>
          <p:cNvPr id="12" name="kyushu-work-label-0">
            <a:extLst xmlns:a="http://schemas.openxmlformats.org/drawingml/2006/main">
              <a:ext uri="{FF2B5EF4-FFF2-40B4-BE49-F238E27FC236}">
                <a16:creationId xmlns:a16="http://schemas.microsoft.com/office/drawing/2014/main" id="{49C80FAF-0FF0-47D3-A9BA-AD791F7D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247775"/>
            <a:ext cx="600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13" name="kyushu-work-a-0">
            <a:extLst xmlns:a="http://schemas.openxmlformats.org/drawingml/2006/main">
              <a:ext uri="{FF2B5EF4-FFF2-40B4-BE49-F238E27FC236}">
                <a16:creationId xmlns:a16="http://schemas.microsoft.com/office/drawing/2014/main" id="{0748CBAF-137F-41FA-BB4D-596BF1FF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57375"/>
            <a:ext cx="3962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开展九州与自研平台对比测试，</a:t>
            </a:r>
          </a:p>
          <a:p xmlns:a="http://schemas.openxmlformats.org/drawingml/2006/main">
            <a: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复核分析结论、任务状态与失败案例。</a:t>
            </a:r>
          </a:p>
        </p:txBody>
      </p:sp>
      <p:sp>
        <p:nvSpPr>
          <p:cNvPr id="14" name="kyushu-work-b-0">
            <a:extLst xmlns:a="http://schemas.openxmlformats.org/drawingml/2006/main">
              <a:ext uri="{FF2B5EF4-FFF2-40B4-BE49-F238E27FC236}">
                <a16:creationId xmlns:a16="http://schemas.microsoft.com/office/drawing/2014/main" id="{6DF77F8A-AD96-4649-9E9C-47B00237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24125"/>
            <a:ext cx="3962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73808C"/>
                </a:solidFill>
                <a:latin typeface="PingFang SC"/>
                <a:ea typeface="PingFang SC"/>
                <a:cs typeface="PingFang SC"/>
              </a:rPr>
              <a:t>熟悉分析 Harness，梳理执行与改进点。</a:t>
            </a:r>
          </a:p>
        </p:txBody>
      </p:sp>
      <p:sp>
        <p:nvSpPr>
          <p:cNvPr id="15" name="kyushu-output-label-0">
            <a:extLst xmlns:a="http://schemas.openxmlformats.org/drawingml/2006/main">
              <a:ext uri="{FF2B5EF4-FFF2-40B4-BE49-F238E27FC236}">
                <a16:creationId xmlns:a16="http://schemas.microsoft.com/office/drawing/2014/main" id="{48867DC2-9637-4ECF-A6E1-5EA724A3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247775"/>
            <a:ext cx="2533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73808C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16" name="kyushu-output-0">
            <a:extLst xmlns:a="http://schemas.openxmlformats.org/drawingml/2006/main">
              <a:ext uri="{FF2B5EF4-FFF2-40B4-BE49-F238E27FC236}">
                <a16:creationId xmlns:a16="http://schemas.microsoft.com/office/drawing/2014/main" id="{9F7BBA1F-25F9-468D-A142-F671D7E1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09875"/>
            <a:ext cx="3848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17" name="kyushu-work-label-1">
            <a:extLst xmlns:a="http://schemas.openxmlformats.org/drawingml/2006/main">
              <a:ext uri="{FF2B5EF4-FFF2-40B4-BE49-F238E27FC236}">
                <a16:creationId xmlns:a16="http://schemas.microsoft.com/office/drawing/2014/main" id="{95787E05-14F4-42E1-A558-B8F4D578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051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8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共同源码基线</a:t>
            </a:r>
          </a:p>
        </p:txBody>
      </p:sp>
      <p:sp>
        <p:nvSpPr>
          <p:cNvPr id="18" name="kyushu-work-a-1">
            <a:extLst xmlns:a="http://schemas.openxmlformats.org/drawingml/2006/main">
              <a:ext uri="{FF2B5EF4-FFF2-40B4-BE49-F238E27FC236}">
                <a16:creationId xmlns:a16="http://schemas.microsoft.com/office/drawing/2014/main" id="{032798AA-75C5-413F-8BC2-B2F6191B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8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标准补丁参考</a:t>
            </a:r>
          </a:p>
        </p:txBody>
      </p:sp>
      <p:sp>
        <p:nvSpPr>
          <p:cNvPr id="19" name="kyushu-work-b-1">
            <a:extLst xmlns:a="http://schemas.openxmlformats.org/drawingml/2006/main">
              <a:ext uri="{FF2B5EF4-FFF2-40B4-BE49-F238E27FC236}">
                <a16:creationId xmlns:a16="http://schemas.microsoft.com/office/drawing/2014/main" id="{F30284B6-CBEC-493E-9D66-12795C28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814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8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九州补丁验证</a:t>
            </a:r>
          </a:p>
        </p:txBody>
      </p:sp>
      <p:sp>
        <p:nvSpPr>
          <p:cNvPr id="20" name="kyushu-output-label-1">
            <a:extLst xmlns:a="http://schemas.openxmlformats.org/drawingml/2006/main">
              <a:ext uri="{FF2B5EF4-FFF2-40B4-BE49-F238E27FC236}">
                <a16:creationId xmlns:a16="http://schemas.microsoft.com/office/drawing/2014/main" id="{40A4C502-9923-4DFE-8633-89FA67FB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814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8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自研补丁验证</a:t>
            </a:r>
          </a:p>
        </p:txBody>
      </p:sp>
      <p:sp>
        <p:nvSpPr>
          <p:cNvPr id="21" name="kyushu-output-1">
            <a:extLst xmlns:a="http://schemas.openxmlformats.org/drawingml/2006/main">
              <a:ext uri="{FF2B5EF4-FFF2-40B4-BE49-F238E27FC236}">
                <a16:creationId xmlns:a16="http://schemas.microsoft.com/office/drawing/2014/main" id="{02F76F86-FD92-40E5-A58A-F97A7076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47850"/>
            <a:ext cx="676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开发 Kernel CVE 补丁批量对比脚本，</a:t>
            </a:r>
          </a:p>
          <a:p xmlns:a="http://schemas.openxmlformats.org/drawingml/2006/main">
            <a:pPr algn="l">
              <a:def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统一源码基线，隔离验证九州与自研平台补丁。</a:t>
            </a:r>
          </a:p>
        </p:txBody>
      </p:sp>
      <p:sp>
        <p:nvSpPr>
          <p:cNvPr id="22" name="kyushu-work-b-2">
            <a:extLst xmlns:a="http://schemas.openxmlformats.org/drawingml/2006/main">
              <a:ext uri="{FF2B5EF4-FFF2-40B4-BE49-F238E27FC236}">
                <a16:creationId xmlns:a16="http://schemas.microsoft.com/office/drawing/2014/main" id="{BB74F2CE-D4F6-4AF5-8E24-A14B0929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9624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197C80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23" name="kyushu-output-label-2">
            <a:extLst xmlns:a="http://schemas.openxmlformats.org/drawingml/2006/main">
              <a:ext uri="{FF2B5EF4-FFF2-40B4-BE49-F238E27FC236}">
                <a16:creationId xmlns:a16="http://schemas.microsoft.com/office/drawing/2014/main" id="{63DD380A-E875-484C-8416-D6B1BA88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953000"/>
            <a:ext cx="3962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输出：平台嵌入与联调验证</a:t>
            </a:r>
          </a:p>
        </p:txBody>
      </p:sp>
      <p:sp>
        <p:nvSpPr>
          <p:cNvPr id="24" name="kyushu-output-2">
            <a:extLst xmlns:a="http://schemas.openxmlformats.org/drawingml/2006/main">
              <a:ext uri="{FF2B5EF4-FFF2-40B4-BE49-F238E27FC236}">
                <a16:creationId xmlns:a16="http://schemas.microsoft.com/office/drawing/2014/main" id="{B2CE339B-C4E1-4284-8153-DB85A5C5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2927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25" name="kyushu-value-title-0">
            <a:extLst xmlns:a="http://schemas.openxmlformats.org/drawingml/2006/main">
              <a:ext uri="{FF2B5EF4-FFF2-40B4-BE49-F238E27FC236}">
                <a16:creationId xmlns:a16="http://schemas.microsoft.com/office/drawing/2014/main" id="{498C9648-D2A8-4A4E-AE92-754D7B39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14650"/>
            <a:ext cx="3962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38" b="1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输出：双平台测试分析报告</a:t>
            </a:r>
          </a:p>
        </p:txBody>
      </p:sp>
      <p:sp>
        <p:nvSpPr>
          <p:cNvPr id="26" name="kyushu-value-body-0">
            <a:extLst xmlns:a="http://schemas.openxmlformats.org/drawingml/2006/main">
              <a:ext uri="{FF2B5EF4-FFF2-40B4-BE49-F238E27FC236}">
                <a16:creationId xmlns:a16="http://schemas.microsoft.com/office/drawing/2014/main" id="{963262C2-991B-49B6-BE05-7CBC9238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16217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73808C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27" name="kyushu-value-title-1">
            <a:extLst xmlns:a="http://schemas.openxmlformats.org/drawingml/2006/main">
              <a:ext uri="{FF2B5EF4-FFF2-40B4-BE49-F238E27FC236}">
                <a16:creationId xmlns:a16="http://schemas.microsoft.com/office/drawing/2014/main" id="{DBB3646A-B656-4BC9-8747-950C01E4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48225"/>
            <a:ext cx="676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输出：Excel 汇总与逐 CVE 验证明细</a:t>
            </a:r>
          </a:p>
        </p:txBody>
      </p:sp>
      <p:sp>
        <p:nvSpPr>
          <p:cNvPr id="28" name="kyushu-value-body-1">
            <a:extLst xmlns:a="http://schemas.openxmlformats.org/drawingml/2006/main">
              <a:ext uri="{FF2B5EF4-FFF2-40B4-BE49-F238E27FC236}">
                <a16:creationId xmlns:a16="http://schemas.microsoft.com/office/drawing/2014/main" id="{F62F5B4E-6045-4CE3-B38D-EDFAB341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257675"/>
            <a:ext cx="676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73808C"/>
                </a:solidFill>
                <a:latin typeface="PingFang SC"/>
                <a:ea typeface="PingFang SC"/>
                <a:cs typeface="PingFang SC"/>
              </a:rPr>
              <a:t>核查补丁可应用性、修改文件集合与最终代码差异</a:t>
            </a:r>
          </a:p>
        </p:txBody>
      </p:sp>
      <p:sp>
        <p:nvSpPr>
          <p:cNvPr id="29" name="kyushu-value-title-2">
            <a:extLst xmlns:a="http://schemas.openxmlformats.org/drawingml/2006/main">
              <a:ext uri="{FF2B5EF4-FFF2-40B4-BE49-F238E27FC236}">
                <a16:creationId xmlns:a16="http://schemas.microsoft.com/office/drawing/2014/main" id="{6C496B85-DBA6-4DEE-B45D-DA8B38E1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505450"/>
            <a:ext cx="65913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30" name="kyushu-value-body-2">
            <a:extLst xmlns:a="http://schemas.openxmlformats.org/drawingml/2006/main">
              <a:ext uri="{FF2B5EF4-FFF2-40B4-BE49-F238E27FC236}">
                <a16:creationId xmlns:a16="http://schemas.microsoft.com/office/drawing/2014/main" id="{D3D5C9A9-8293-4959-B448-C388D1D2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0960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识别分析风险</a:t>
            </a:r>
          </a:p>
        </p:txBody>
      </p:sp>
      <p:sp>
        <p:nvSpPr>
          <p:cNvPr id="31" name="kyushu-patch-principle">
            <a:extLst xmlns:a="http://schemas.openxmlformats.org/drawingml/2006/main">
              <a:ext uri="{FF2B5EF4-FFF2-40B4-BE49-F238E27FC236}">
                <a16:creationId xmlns:a16="http://schemas.microsoft.com/office/drawing/2014/main" id="{5F132774-60D3-42D6-B5F3-DD2002D3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28800"/>
            <a:ext cx="659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32" name="kyushu-check-label">
            <a:extLst xmlns:a="http://schemas.openxmlformats.org/drawingml/2006/main">
              <a:ext uri="{FF2B5EF4-FFF2-40B4-BE49-F238E27FC236}">
                <a16:creationId xmlns:a16="http://schemas.microsoft.com/office/drawing/2014/main" id="{E589D447-E6C3-40B3-A5B8-45CE1B7F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23875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73808C"/>
                </a:solidFill>
                <a:latin typeface="PingFang SC"/>
                <a:ea typeface="PingFang SC"/>
                <a:cs typeface="PingFang SC"/>
              </a:rPr>
              <a:t>定位补丁缺失、应用冲突、内容差异及人工复核项</a:t>
            </a:r>
          </a:p>
        </p:txBody>
      </p:sp>
      <p:sp>
        <p:nvSpPr>
          <p:cNvPr id="33" name="kyushu-check-apply">
            <a:extLst xmlns:a="http://schemas.openxmlformats.org/drawingml/2006/main">
              <a:ext uri="{FF2B5EF4-FFF2-40B4-BE49-F238E27FC236}">
                <a16:creationId xmlns:a16="http://schemas.microsoft.com/office/drawing/2014/main" id="{83A399A4-C2E8-43BF-9DF6-6589BAB3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95700"/>
            <a:ext cx="1581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34" name="kyushu-check-files">
            <a:extLst xmlns:a="http://schemas.openxmlformats.org/drawingml/2006/main">
              <a:ext uri="{FF2B5EF4-FFF2-40B4-BE49-F238E27FC236}">
                <a16:creationId xmlns:a16="http://schemas.microsoft.com/office/drawing/2014/main" id="{A9B01AE8-4331-483F-843A-5B258230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95700"/>
            <a:ext cx="1581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35" name="kyushu-check-code">
            <a:extLst xmlns:a="http://schemas.openxmlformats.org/drawingml/2006/main">
              <a:ext uri="{FF2B5EF4-FFF2-40B4-BE49-F238E27FC236}">
                <a16:creationId xmlns:a16="http://schemas.microsoft.com/office/drawing/2014/main" id="{06473103-09C7-4D85-BEB7-3D57BB3E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95700"/>
            <a:ext cx="1581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36" name="kyushu-value-verify">
            <a:extLst xmlns:a="http://schemas.openxmlformats.org/drawingml/2006/main">
              <a:ext uri="{FF2B5EF4-FFF2-40B4-BE49-F238E27FC236}">
                <a16:creationId xmlns:a16="http://schemas.microsoft.com/office/drawing/2014/main" id="{559278E9-0B7C-4881-980E-208BC86B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60960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批量定位修补差异</a:t>
            </a:r>
          </a:p>
        </p:txBody>
      </p:sp>
      <p:sp>
        <p:nvSpPr>
          <p:cNvPr id="37" name="kyushu-value-integrate">
            <a:extLst xmlns:a="http://schemas.openxmlformats.org/drawingml/2006/main">
              <a:ext uri="{FF2B5EF4-FFF2-40B4-BE49-F238E27FC236}">
                <a16:creationId xmlns:a16="http://schemas.microsoft.com/office/drawing/2014/main" id="{D8742129-78C9-4D10-8D04-3AAC513A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09600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支撑业务平台使用</a:t>
            </a:r>
          </a:p>
        </p:txBody>
      </p:sp>
      <p:sp>
        <p:nvSpPr>
          <p:cNvPr id="38" name="kyushu-it-platform-frame">
            <a:extLst xmlns:a="http://schemas.openxmlformats.org/drawingml/2006/main">
              <a:ext uri="{FF2B5EF4-FFF2-40B4-BE49-F238E27FC236}">
                <a16:creationId xmlns:a16="http://schemas.microsoft.com/office/drawing/2014/main" id="{210AC682-AB90-4B6C-8A58-A3EE344C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52800"/>
            <a:ext cx="396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9" name="kyushu-work-label-2">
            <a:extLst xmlns:a="http://schemas.openxmlformats.org/drawingml/2006/main">
              <a:ext uri="{FF2B5EF4-FFF2-40B4-BE49-F238E27FC236}">
                <a16:creationId xmlns:a16="http://schemas.microsoft.com/office/drawing/2014/main" id="{F161A645-9D9F-40ED-8D90-4E01E9E8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524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40" name="kyushu-work-a-2">
            <a:extLst xmlns:a="http://schemas.openxmlformats.org/drawingml/2006/main">
              <a:ext uri="{FF2B5EF4-FFF2-40B4-BE49-F238E27FC236}">
                <a16:creationId xmlns:a16="http://schemas.microsoft.com/office/drawing/2014/main" id="{A74D61F2-2E83-4DEB-B4AB-1063F7A8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19575"/>
            <a:ext cx="3962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完成 IT 平台接入与联调，</a:t>
            </a:r>
          </a:p>
          <a:p xmlns:a="http://schemas.openxmlformats.org/drawingml/2006/main">
            <a:pPr algn="l">
              <a:def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243746"/>
                </a:solidFill>
                <a:latin typeface="PingFang SC"/>
                <a:ea typeface="PingFang SC"/>
                <a:cs typeface="PingFang SC"/>
              </a:rPr>
              <a:t>将漏洞处理能力嵌入现有业务平台。</a:t>
            </a:r>
          </a:p>
        </p:txBody>
      </p:sp>
      <p:cxnSp>
        <p:nvCxn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0D7BF1-B7A8-4874-8AFE-C62417EA611B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9677400" y="38862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6DA6A11-83FB-4900-9456-B3A23E692E60}"/>
              </a:ext>
            </a:extLst>
          </p:cNvPr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7810500" y="38862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DC1AEE-BDEF-4BD8-9A85-DD9BF34C52D1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 flipV="0">
            <a:off x="3810000" y="3105150"/>
            <a:ext cx="22860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56AADF0-DAF3-477D-BD2A-519BA80932EE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 flipH="0" flipV="0">
            <a:off x="3810000" y="3105150"/>
            <a:ext cx="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5D4FFBD-4759-4F48-B1E8-83500ADF1A87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 flipH="1" flipV="0">
            <a:off x="1524000" y="3105150"/>
            <a:ext cx="22860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CE49E90-241A-4550-8F52-CC6EF99F4BBC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H="1" flipV="1">
            <a:off x="9277350" y="1381125"/>
            <a:ext cx="2533650" cy="12811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D195DA5-97B6-4509-8DF2-968B751E9A6D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H="1" flipV="1">
            <a:off x="9277350" y="1381125"/>
            <a:ext cx="2533650" cy="771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870B66-6753-4B04-A03F-A163ACD4E016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 flipH="1">
            <a:off x="7848600" y="1381125"/>
            <a:ext cx="1009650" cy="12811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A45C6A-C82A-4953-9B69-235D985B606F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 flipH="1" flipV="0">
            <a:off x="7848600" y="1381125"/>
            <a:ext cx="1009650" cy="771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23104D3-964A-4E5E-B990-C87AEBC4267D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H="0">
            <a:off x="7143750" y="1562100"/>
            <a:ext cx="704850" cy="2333625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9E5D73E-E0F6-4309-9C4E-AD7ACB6CAD46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H="1" flipV="0">
            <a:off x="381000" y="1562100"/>
            <a:ext cx="11430000" cy="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57B015B-088B-4F0C-8EE3-026CA694E319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 flipH="1">
            <a:off x="1524000" y="3105150"/>
            <a:ext cx="22860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F5C1EEC-DD3F-40F6-A8CD-CB79F9C41F2B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3810000" y="3105150"/>
            <a:ext cx="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5B931B3-3D16-4C48-A12A-6D355069CDCC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3810000" y="3105150"/>
            <a:ext cx="22860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0">
            <a:noFill/>
            <a:tailEnd type="triangle" w="sm" len="sm"/>
          </a:ln>
        </p:spPr>
      </p:cxnSp>
      <p:cxnSp>
        <p:nvCxn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3F14430-BE67-454C-B6F5-FAB339C800F9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 flipH="1">
            <a:off x="1524000" y="3105150"/>
            <a:ext cx="22860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1430">
            <a:solidFill>
              <a:srgbClr val="9EAAB4"/>
            </a:solidFill>
            <a:tailEnd type="triangle" w="sm" len="sm"/>
          </a:ln>
        </p:spPr>
      </p:cxnSp>
      <p:cxnSp>
        <p:nvCxn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C8D6161-CA28-40EA-A853-0AE74D488E49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3810000" y="3105150"/>
            <a:ext cx="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9EAAB4"/>
            </a:solidFill>
            <a:tailEnd type="triangle" w="sm" len="sm"/>
          </a:ln>
        </p:spPr>
      </p:cxnSp>
      <p:cxnSp>
        <p:nvCxn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9EB6261-43DE-4ACB-B4E8-557ED6E84808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3810000" y="3105150"/>
            <a:ext cx="22860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1430">
            <a:solidFill>
              <a:srgbClr val="9EAAB4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8040551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CFBC5-F4D4-4BEA-B429-0B880EBC3172}"/>
              </a:ext>
            </a:extLst>
          </p:cNvPr>
          <p:cNvCxnSpPr>
            <a:stCxn xmlns:a="http://schemas.openxmlformats.org/drawingml/2006/main" id="44" idx="2"/>
            <a:endCxn xmlns:a="http://schemas.openxmlformats.org/drawingml/2006/main" id="45" idx="0"/>
          </p:cNvCxnSpPr>
          <p:nvPr/>
        </p:nvCxnSpPr>
        <p:spPr>
          <a:xfrm xmlns:a="http://schemas.openxmlformats.org/drawingml/2006/main">
            <a:off x="5886450" y="3886200"/>
            <a:ext cx="0" cy="104775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5B9CA"/>
            </a:solidFill>
            <a:tailEnd type="triangle" w="sm" len="sm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1DEEF-49F0-4948-BEBC-F7CC3DA4717D}"/>
              </a:ext>
            </a:extLst>
          </p:cNvPr>
          <p:cNvCxnSpPr>
            <a:stCxn xmlns:a="http://schemas.openxmlformats.org/drawingml/2006/main" id="43" idx="2"/>
            <a:endCxn xmlns:a="http://schemas.openxmlformats.org/drawingml/2006/main" id="44" idx="0"/>
          </p:cNvCxnSpPr>
          <p:nvPr/>
        </p:nvCxnSpPr>
        <p:spPr>
          <a:xfrm xmlns:a="http://schemas.openxmlformats.org/drawingml/2006/main">
            <a:off x="5886450" y="3495675"/>
            <a:ext cx="0" cy="104775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5B9CA"/>
            </a:solidFill>
            <a:tailEnd type="triangle" w="sm" len="sm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61FE5-AC46-4021-BE63-E7439F5167FC}"/>
              </a:ext>
            </a:extLst>
          </p:cNvPr>
          <p:cNvCxnSpPr>
            <a:stCxn xmlns:a="http://schemas.openxmlformats.org/drawingml/2006/main" id="28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7764780" y="2190750"/>
            <a:ext cx="16002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C9BB6"/>
            </a:solidFill>
            <a:tailEnd type="triangle" w="sm" len="sm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EF4021-CF8B-48F6-BDDE-80F9AD583547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6785610" y="2190750"/>
            <a:ext cx="16002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C9BB6"/>
            </a:solidFill>
            <a:tailEnd type="triangle" w="sm" len="sm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29692F-AFFF-4A61-ADFE-C0DE308A1C86}"/>
              </a:ext>
            </a:extLst>
          </p:cNvPr>
          <p:cNvCxnSpPr>
            <a:stCxn xmlns:a="http://schemas.openxmlformats.org/drawingml/2006/main" id="22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5806440" y="2190750"/>
            <a:ext cx="16002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C9BB6"/>
            </a:solidFill>
            <a:tailEnd type="triangle" w="sm" len="sm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61358A-6BEB-4E95-B1B4-7539FBF14771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 flipH="0">
            <a:off x="4827270" y="2190750"/>
            <a:ext cx="16002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C9BB6"/>
            </a:solidFill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1679C-E400-4B57-B1B2-DCEA23F46B64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H="0">
            <a:off x="3848100" y="2190750"/>
            <a:ext cx="16002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C9BB6"/>
            </a:solidFill>
            <a:tailEnd type="triangle" w="sm" len="sm"/>
          </a:ln>
        </p:spPr>
      </p:cxnSp>
      <p:sp>
        <p:nvSpPr>
          <p:cNvPr id="9" name="cover-type">
            <a:extLst xmlns:a="http://schemas.openxmlformats.org/drawingml/2006/main">
              <a:ext uri="{FF2B5EF4-FFF2-40B4-BE49-F238E27FC236}">
                <a16:creationId xmlns:a16="http://schemas.microsoft.com/office/drawing/2014/main" id="{1AF9EC83-725B-47D3-B8DC-AC1325C1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中期汇报</a:t>
            </a:r>
          </a:p>
        </p:txBody>
      </p:sp>
      <p:sp>
        <p:nvSpPr>
          <p:cNvPr id="10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B47EA68-EF2E-4279-B7CC-A84F2650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67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九州漏洞分析与修补工程实践</a:t>
            </a:r>
          </a:p>
        </p:txBody>
      </p:sp>
      <p:sp>
        <p:nvSpPr>
          <p:cNvPr id="11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C0F1836-9B89-4088-8324-A71D4F57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477" y="65341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九州分析 · 修补试用 · IT 平台嵌入</a:t>
            </a:r>
          </a:p>
        </p:txBody>
      </p:sp>
      <p:sp>
        <p:nvSpPr>
          <p:cNvPr id="12" name="cover-meta">
            <a:extLst xmlns:a="http://schemas.openxmlformats.org/drawingml/2006/main">
              <a:ext uri="{FF2B5EF4-FFF2-40B4-BE49-F238E27FC236}">
                <a16:creationId xmlns:a16="http://schemas.microsoft.com/office/drawing/2014/main" id="{7DAE3C9A-BE9F-4172-9888-F8976DEF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5341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中期汇报 · 九州漏洞工程工作</a:t>
            </a:r>
          </a:p>
        </p:txBody>
      </p:sp>
      <p:sp>
        <p:nvSpPr>
          <p:cNvPr id="13" name="research-goal-label">
            <a:extLst xmlns:a="http://schemas.openxmlformats.org/drawingml/2006/main">
              <a:ext uri="{FF2B5EF4-FFF2-40B4-BE49-F238E27FC236}">
                <a16:creationId xmlns:a16="http://schemas.microsoft.com/office/drawing/2014/main" id="{907A198E-0DE0-4104-A4FB-D3F57F02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14425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背景、问题与挑战</a:t>
            </a:r>
          </a:p>
        </p:txBody>
      </p:sp>
      <p:sp>
        <p:nvSpPr>
          <p:cNvPr id="14" name="process-heading">
            <a:extLst xmlns:a="http://schemas.openxmlformats.org/drawingml/2006/main">
              <a:ext uri="{FF2B5EF4-FFF2-40B4-BE49-F238E27FC236}">
                <a16:creationId xmlns:a16="http://schemas.microsoft.com/office/drawing/2014/main" id="{F344DEF7-2102-4171-965B-3B1F9AD7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114425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主要工作 / 设计方案</a:t>
            </a:r>
          </a:p>
        </p:txBody>
      </p:sp>
      <p:sp>
        <p:nvSpPr>
          <p:cNvPr id="15" name="step-number-0">
            <a:extLst xmlns:a="http://schemas.openxmlformats.org/drawingml/2006/main">
              <a:ext uri="{FF2B5EF4-FFF2-40B4-BE49-F238E27FC236}">
                <a16:creationId xmlns:a16="http://schemas.microsoft.com/office/drawing/2014/main" id="{3BCB4A2D-3DD2-4ACD-A60C-8DE200BD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09725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补丁批量验证流程</a:t>
            </a:r>
          </a:p>
        </p:txBody>
      </p:sp>
      <p:sp>
        <p:nvSpPr>
          <p:cNvPr id="16" name="process-step-0">
            <a:extLst xmlns:a="http://schemas.openxmlformats.org/drawingml/2006/main">
              <a:ext uri="{FF2B5EF4-FFF2-40B4-BE49-F238E27FC236}">
                <a16:creationId xmlns:a16="http://schemas.microsoft.com/office/drawing/2014/main" id="{27FB5430-0089-48A7-8DA0-3E3D4D1D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补丁收集</a:t>
            </a:r>
          </a:p>
        </p:txBody>
      </p:sp>
      <p:sp>
        <p:nvSpPr>
          <p:cNvPr id="17" name="step-output-0">
            <a:extLst xmlns:a="http://schemas.openxmlformats.org/drawingml/2006/main">
              <a:ext uri="{FF2B5EF4-FFF2-40B4-BE49-F238E27FC236}">
                <a16:creationId xmlns:a16="http://schemas.microsoft.com/office/drawing/2014/main" id="{7914EE5B-1D91-4BBC-8A9C-744E8F20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81200"/>
            <a:ext cx="2609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双平台测试分析报告</a:t>
            </a:r>
          </a:p>
          <a:p xmlns:a="http://schemas.openxmlformats.org/drawingml/2006/main">
            <a:pPr algn="l">
              <a:def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识别误判与结果缺失</a:t>
            </a:r>
          </a:p>
        </p:txBody>
      </p:sp>
      <p:sp>
        <p:nvSpPr>
          <p:cNvPr id="18" name="step-number-1">
            <a:extLst xmlns:a="http://schemas.openxmlformats.org/drawingml/2006/main">
              <a:ext uri="{FF2B5EF4-FFF2-40B4-BE49-F238E27FC236}">
                <a16:creationId xmlns:a16="http://schemas.microsoft.com/office/drawing/2014/main" id="{39B051B9-0F14-4372-AD8A-A4E17BD1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765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九州漏洞分析</a:t>
            </a:r>
          </a:p>
        </p:txBody>
      </p:sp>
      <p:sp>
        <p:nvSpPr>
          <p:cNvPr id="19" name="process-step-1">
            <a:extLst xmlns:a="http://schemas.openxmlformats.org/drawingml/2006/main">
              <a:ext uri="{FF2B5EF4-FFF2-40B4-BE49-F238E27FC236}">
                <a16:creationId xmlns:a16="http://schemas.microsoft.com/office/drawing/2014/main" id="{6A6C81BD-2D39-48D9-9BC3-CC328FB0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812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基线构建</a:t>
            </a:r>
          </a:p>
        </p:txBody>
      </p:sp>
      <p:sp>
        <p:nvSpPr>
          <p:cNvPr id="20" name="step-output-1">
            <a:extLst xmlns:a="http://schemas.openxmlformats.org/drawingml/2006/main">
              <a:ext uri="{FF2B5EF4-FFF2-40B4-BE49-F238E27FC236}">
                <a16:creationId xmlns:a16="http://schemas.microsoft.com/office/drawing/2014/main" id="{D4DB135E-3BDD-45AF-8CE0-0D067959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52950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IT 平台嵌入</a:t>
            </a:r>
          </a:p>
        </p:txBody>
      </p:sp>
      <p:sp>
        <p:nvSpPr>
          <p:cNvPr id="21" name="step-number-2">
            <a:extLst xmlns:a="http://schemas.openxmlformats.org/drawingml/2006/main">
              <a:ext uri="{FF2B5EF4-FFF2-40B4-BE49-F238E27FC236}">
                <a16:creationId xmlns:a16="http://schemas.microsoft.com/office/drawing/2014/main" id="{CBEA57EA-7BF4-4B39-BA99-612EDFDB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52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基线与补丁对比</a:t>
            </a:r>
          </a:p>
        </p:txBody>
      </p:sp>
      <p:sp>
        <p:nvSpPr>
          <p:cNvPr id="22" name="process-step-2">
            <a:extLst xmlns:a="http://schemas.openxmlformats.org/drawingml/2006/main">
              <a:ext uri="{FF2B5EF4-FFF2-40B4-BE49-F238E27FC236}">
                <a16:creationId xmlns:a16="http://schemas.microsoft.com/office/drawing/2014/main" id="{2E8D4629-5182-49B1-A2D4-F1BDA716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729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隔离验证</a:t>
            </a:r>
          </a:p>
        </p:txBody>
      </p:sp>
      <p:sp>
        <p:nvSpPr>
          <p:cNvPr id="23" name="step-output-2">
            <a:extLst xmlns:a="http://schemas.openxmlformats.org/drawingml/2006/main">
              <a:ext uri="{FF2B5EF4-FFF2-40B4-BE49-F238E27FC236}">
                <a16:creationId xmlns:a16="http://schemas.microsoft.com/office/drawing/2014/main" id="{9EF16381-01B4-42E3-AF3D-81772253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953000"/>
            <a:ext cx="2609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已完成接入与联调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支撑统一平台内使用</a:t>
            </a:r>
          </a:p>
        </p:txBody>
      </p:sp>
      <p:sp>
        <p:nvSpPr>
          <p:cNvPr id="24" name="step-number-3">
            <a:extLst xmlns:a="http://schemas.openxmlformats.org/drawingml/2006/main">
              <a:ext uri="{FF2B5EF4-FFF2-40B4-BE49-F238E27FC236}">
                <a16:creationId xmlns:a16="http://schemas.microsoft.com/office/drawing/2014/main" id="{E512C710-A238-4C53-839D-0BE3A726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52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平台集成（示意）</a:t>
            </a:r>
          </a:p>
        </p:txBody>
      </p:sp>
      <p:sp>
        <p:nvSpPr>
          <p:cNvPr id="25" name="process-step-3">
            <a:extLst xmlns:a="http://schemas.openxmlformats.org/drawingml/2006/main">
              <a:ext uri="{FF2B5EF4-FFF2-40B4-BE49-F238E27FC236}">
                <a16:creationId xmlns:a16="http://schemas.microsoft.com/office/drawing/2014/main" id="{453AD9FB-EF7E-4BBC-9E72-ED2D1384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646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差异对比</a:t>
            </a:r>
          </a:p>
        </p:txBody>
      </p:sp>
      <p:sp>
        <p:nvSpPr>
          <p:cNvPr id="26" name="step-output-3">
            <a:extLst xmlns:a="http://schemas.openxmlformats.org/drawingml/2006/main">
              <a:ext uri="{FF2B5EF4-FFF2-40B4-BE49-F238E27FC236}">
                <a16:creationId xmlns:a16="http://schemas.microsoft.com/office/drawing/2014/main" id="{575B853F-8F86-46EF-804C-32F50ADD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86450"/>
            <a:ext cx="2609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批量验证，减少逐条核对</a:t>
            </a:r>
          </a:p>
        </p:txBody>
      </p:sp>
      <p:sp>
        <p:nvSpPr>
          <p:cNvPr id="27" name="step-number-4">
            <a:extLst xmlns:a="http://schemas.openxmlformats.org/drawingml/2006/main">
              <a:ext uri="{FF2B5EF4-FFF2-40B4-BE49-F238E27FC236}">
                <a16:creationId xmlns:a16="http://schemas.microsoft.com/office/drawing/2014/main" id="{0B765265-C873-406D-B3F2-EDFDE007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09725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漏洞分析</a:t>
            </a:r>
          </a:p>
        </p:txBody>
      </p:sp>
      <p:sp>
        <p:nvSpPr>
          <p:cNvPr id="28" name="process-step-4">
            <a:extLst xmlns:a="http://schemas.openxmlformats.org/drawingml/2006/main">
              <a:ext uri="{FF2B5EF4-FFF2-40B4-BE49-F238E27FC236}">
                <a16:creationId xmlns:a16="http://schemas.microsoft.com/office/drawing/2014/main" id="{632BCB0B-0562-4732-A77E-EB82B010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563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异常分类</a:t>
            </a:r>
          </a:p>
        </p:txBody>
      </p:sp>
      <p:sp>
        <p:nvSpPr>
          <p:cNvPr id="29" name="step-output-4">
            <a:extLst xmlns:a="http://schemas.openxmlformats.org/drawingml/2006/main">
              <a:ext uri="{FF2B5EF4-FFF2-40B4-BE49-F238E27FC236}">
                <a16:creationId xmlns:a16="http://schemas.microsoft.com/office/drawing/2014/main" id="{D5E41092-EBF5-4754-B65A-B1D7F352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6124575"/>
            <a:ext cx="2609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平台接入，衔接业务流程</a:t>
            </a:r>
          </a:p>
        </p:txBody>
      </p:sp>
      <p:sp>
        <p:nvSpPr>
          <p:cNvPr id="30" name="step-number-5">
            <a:extLst xmlns:a="http://schemas.openxmlformats.org/drawingml/2006/main">
              <a:ext uri="{FF2B5EF4-FFF2-40B4-BE49-F238E27FC236}">
                <a16:creationId xmlns:a16="http://schemas.microsoft.com/office/drawing/2014/main" id="{8CC44937-3F39-41C4-BE42-491CE136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76550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修补工程试用</a:t>
            </a:r>
          </a:p>
        </p:txBody>
      </p:sp>
      <p:sp>
        <p:nvSpPr>
          <p:cNvPr id="31" name="process-step-5">
            <a:extLst xmlns:a="http://schemas.openxmlformats.org/drawingml/2006/main">
              <a:ext uri="{FF2B5EF4-FFF2-40B4-BE49-F238E27FC236}">
                <a16:creationId xmlns:a16="http://schemas.microsoft.com/office/drawing/2014/main" id="{5383FECF-F902-42CF-85C6-AFE19D8A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990725"/>
            <a:ext cx="81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报告输出</a:t>
            </a:r>
          </a:p>
        </p:txBody>
      </p:sp>
      <p:sp>
        <p:nvSpPr>
          <p:cNvPr id="32" name="step-output-5">
            <a:extLst xmlns:a="http://schemas.openxmlformats.org/drawingml/2006/main">
              <a:ext uri="{FF2B5EF4-FFF2-40B4-BE49-F238E27FC236}">
                <a16:creationId xmlns:a16="http://schemas.microsoft.com/office/drawing/2014/main" id="{B19D5037-7732-4A89-8C47-FF4F282D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38500"/>
            <a:ext cx="260985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AE4EC"/>
            </a:solidFill>
            <a:prstDash val="dash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Excel 汇总 / 逐 CVE 明细</a:t>
            </a:r>
          </a:p>
          <a:p xmlns:a="http://schemas.openxmlformats.org/drawingml/2006/main">
            <a: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补丁缺失 / 应用冲突</a:t>
            </a:r>
          </a:p>
          <a:p xmlns:a="http://schemas.openxmlformats.org/drawingml/2006/main">
            <a:pPr algn="ctr">
              <a:def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内容差异 / 人工复核</a:t>
            </a:r>
          </a:p>
        </p:txBody>
      </p:sp>
      <p:sp>
        <p:nvSpPr>
          <p:cNvPr id="33" name="process-return-note">
            <a:extLst xmlns:a="http://schemas.openxmlformats.org/drawingml/2006/main">
              <a:ext uri="{FF2B5EF4-FFF2-40B4-BE49-F238E27FC236}">
                <a16:creationId xmlns:a16="http://schemas.microsoft.com/office/drawing/2014/main" id="{FEA2F4C3-7CA6-4085-81D5-7F0A4CFE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66975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以标准补丁为基准；核查应用结果、文件集合与最终代码</a:t>
            </a:r>
          </a:p>
        </p:txBody>
      </p:sp>
      <p:sp>
        <p:nvSpPr>
          <p:cNvPr id="34" name="summary-heading-0">
            <a:extLst xmlns:a="http://schemas.openxmlformats.org/drawingml/2006/main">
              <a:ext uri="{FF2B5EF4-FFF2-40B4-BE49-F238E27FC236}">
                <a16:creationId xmlns:a16="http://schemas.microsoft.com/office/drawing/2014/main" id="{68F96132-926C-46C1-A4AE-43A145D4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972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背景介绍</a:t>
            </a:r>
          </a:p>
        </p:txBody>
      </p:sp>
      <p:sp>
        <p:nvSpPr>
          <p:cNvPr id="35" name="summary-body-0">
            <a:extLst xmlns:a="http://schemas.openxmlformats.org/drawingml/2006/main">
              <a:ext uri="{FF2B5EF4-FFF2-40B4-BE49-F238E27FC236}">
                <a16:creationId xmlns:a16="http://schemas.microsoft.com/office/drawing/2014/main" id="{0D615E0D-D7BA-4B7E-A144-5FA669EB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81200"/>
            <a:ext cx="2247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AI 辅助漏洞影响评估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开展漏洞修补工程试用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推动能力接入 IT 平台</a:t>
            </a:r>
          </a:p>
        </p:txBody>
      </p:sp>
      <p:sp>
        <p:nvSpPr>
          <p:cNvPr id="36" name="summary-heading-1">
            <a:extLst xmlns:a="http://schemas.openxmlformats.org/drawingml/2006/main">
              <a:ext uri="{FF2B5EF4-FFF2-40B4-BE49-F238E27FC236}">
                <a16:creationId xmlns:a16="http://schemas.microsoft.com/office/drawing/2014/main" id="{B885C644-DF04-4126-A0F9-03DCBA81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94322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问题描述</a:t>
            </a:r>
          </a:p>
        </p:txBody>
      </p:sp>
      <p:sp>
        <p:nvSpPr>
          <p:cNvPr id="37" name="summary-body-1">
            <a:extLst xmlns:a="http://schemas.openxmlformats.org/drawingml/2006/main">
              <a:ext uri="{FF2B5EF4-FFF2-40B4-BE49-F238E27FC236}">
                <a16:creationId xmlns:a16="http://schemas.microsoft.com/office/drawing/2014/main" id="{956D54D6-1A91-4295-A745-41627B06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314700"/>
            <a:ext cx="2247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分析结论存在不确定性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生成补丁仍需核验质量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人工逐条核对成本较高</a:t>
            </a:r>
          </a:p>
        </p:txBody>
      </p:sp>
      <p:sp>
        <p:nvSpPr>
          <p:cNvPr id="38" name="summary-heading-2">
            <a:extLst xmlns:a="http://schemas.openxmlformats.org/drawingml/2006/main">
              <a:ext uri="{FF2B5EF4-FFF2-40B4-BE49-F238E27FC236}">
                <a16:creationId xmlns:a16="http://schemas.microsoft.com/office/drawing/2014/main" id="{4C90AF1F-0E0E-4ACE-A215-EC47CF93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3719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关键挑战</a:t>
            </a:r>
          </a:p>
        </p:txBody>
      </p:sp>
      <p:sp>
        <p:nvSpPr>
          <p:cNvPr id="39" name="summary-body-2">
            <a:extLst xmlns:a="http://schemas.openxmlformats.org/drawingml/2006/main">
              <a:ext uri="{FF2B5EF4-FFF2-40B4-BE49-F238E27FC236}">
                <a16:creationId xmlns:a16="http://schemas.microsoft.com/office/drawing/2014/main" id="{81D598A9-D299-45F1-A05F-4BF68285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743450"/>
            <a:ext cx="2247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分析：识别误判与空结果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验证：统一基线与隔离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差异：定位文件与代码</a:t>
            </a:r>
          </a:p>
          <a:p xmlns:a="http://schemas.openxmlformats.org/drawingml/2006/main">
            <a:pPr algn="l">
              <a:def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集成：完成接入与联调</a:t>
            </a:r>
          </a:p>
        </p:txBody>
      </p:sp>
      <p:sp>
        <p:nvSpPr>
          <p:cNvPr id="40" name="report-date">
            <a:extLst xmlns:a="http://schemas.openxmlformats.org/drawingml/2006/main">
              <a:ext uri="{FF2B5EF4-FFF2-40B4-BE49-F238E27FC236}">
                <a16:creationId xmlns:a16="http://schemas.microsoft.com/office/drawing/2014/main" id="{1CCBF819-9A8C-4680-AFF5-700BD005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114425"/>
            <a:ext cx="2609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5F8D"/>
                </a:solidFill>
                <a:latin typeface="PingFang SC"/>
                <a:ea typeface="PingFang SC"/>
                <a:cs typeface="PingFang SC"/>
              </a:rPr>
              <a:t>成果输出 / 工作价值</a:t>
            </a:r>
          </a:p>
        </p:txBody>
      </p:sp>
      <p:sp>
        <p:nvSpPr>
          <p:cNvPr id="41" name="column-divider-left">
            <a:extLst xmlns:a="http://schemas.openxmlformats.org/drawingml/2006/main">
              <a:ext uri="{FF2B5EF4-FFF2-40B4-BE49-F238E27FC236}">
                <a16:creationId xmlns:a16="http://schemas.microsoft.com/office/drawing/2014/main" id="{9E9AA24F-6105-4EF4-BFBE-85A2C729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085850"/>
            <a:ext cx="0" cy="5181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E4EC"/>
            </a:solidFill>
            <a:prstDash val="solid"/>
          </a:ln>
        </p:spPr>
      </p:sp>
      <p:sp>
        <p:nvSpPr>
          <p:cNvPr id="42" name="column-divider-right">
            <a:extLst xmlns:a="http://schemas.openxmlformats.org/drawingml/2006/main">
              <a:ext uri="{FF2B5EF4-FFF2-40B4-BE49-F238E27FC236}">
                <a16:creationId xmlns:a16="http://schemas.microsoft.com/office/drawing/2014/main" id="{5C977CBB-1F27-4AA9-8E10-3CF75A80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085850"/>
            <a:ext cx="0" cy="5181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E4EC"/>
            </a:solidFill>
            <a:prstDash val="solid"/>
          </a:ln>
        </p:spPr>
      </p:sp>
      <p:sp>
        <p:nvSpPr>
          <p:cNvPr id="43" name="architecture-display">
            <a:extLst xmlns:a="http://schemas.openxmlformats.org/drawingml/2006/main">
              <a:ext uri="{FF2B5EF4-FFF2-40B4-BE49-F238E27FC236}">
                <a16:creationId xmlns:a16="http://schemas.microsoft.com/office/drawing/2014/main" id="{2F7DD641-B8C3-4987-8712-D60D880E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571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测试输入   CVE × 目标版本 · 九州 / 自研平台</a:t>
            </a:r>
          </a:p>
        </p:txBody>
      </p:sp>
      <p:sp>
        <p:nvSpPr>
          <p:cNvPr id="44" name="architecture-service">
            <a:extLst xmlns:a="http://schemas.openxmlformats.org/drawingml/2006/main">
              <a:ext uri="{FF2B5EF4-FFF2-40B4-BE49-F238E27FC236}">
                <a16:creationId xmlns:a16="http://schemas.microsoft.com/office/drawing/2014/main" id="{D1BEED45-D996-4243-BE66-B6D7BCD4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00450"/>
            <a:ext cx="571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对比核查   分析结论 · 任务状态 · 失败案例</a:t>
            </a:r>
          </a:p>
        </p:txBody>
      </p:sp>
      <p:sp>
        <p:nvSpPr>
          <p:cNvPr id="45" name="architecture-data">
            <a:extLst xmlns:a="http://schemas.openxmlformats.org/drawingml/2006/main">
              <a:ext uri="{FF2B5EF4-FFF2-40B4-BE49-F238E27FC236}">
                <a16:creationId xmlns:a16="http://schemas.microsoft.com/office/drawing/2014/main" id="{94859B7A-6118-4B7F-8A8B-23FE4EC1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990975"/>
            <a:ext cx="571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问题识别   误判 · 结果缺失 · 状态判定</a:t>
            </a:r>
          </a:p>
        </p:txBody>
      </p:sp>
      <p:sp>
        <p:nvSpPr>
          <p:cNvPr id="46" name="uml-vulnerability-box">
            <a:extLst xmlns:a="http://schemas.openxmlformats.org/drawingml/2006/main">
              <a:ext uri="{FF2B5EF4-FFF2-40B4-BE49-F238E27FC236}">
                <a16:creationId xmlns:a16="http://schemas.microsoft.com/office/drawing/2014/main" id="{47B588A9-CEC1-43B7-A84D-763F1658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933950"/>
            <a:ext cx="11620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B9CA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47" name="uml-ticket-box">
            <a:extLst xmlns:a="http://schemas.openxmlformats.org/drawingml/2006/main">
              <a:ext uri="{FF2B5EF4-FFF2-40B4-BE49-F238E27FC236}">
                <a16:creationId xmlns:a16="http://schemas.microsoft.com/office/drawing/2014/main" id="{A231F478-65C2-4C19-8798-99726D7B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33950"/>
            <a:ext cx="11620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5B9CA"/>
            </a:solidFill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48" name="uml-vulnerability-title">
            <a:extLst xmlns:a="http://schemas.openxmlformats.org/drawingml/2006/main">
              <a:ext uri="{FF2B5EF4-FFF2-40B4-BE49-F238E27FC236}">
                <a16:creationId xmlns:a16="http://schemas.microsoft.com/office/drawing/2014/main" id="{FF978E55-DD5F-49B1-9801-E1BE4BEF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81575"/>
            <a:ext cx="1009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标准参考</a:t>
            </a:r>
          </a:p>
        </p:txBody>
      </p:sp>
      <p:sp>
        <p:nvSpPr>
          <p:cNvPr id="49" name="uml-ticket-title">
            <a:extLst xmlns:a="http://schemas.openxmlformats.org/drawingml/2006/main">
              <a:ext uri="{FF2B5EF4-FFF2-40B4-BE49-F238E27FC236}">
                <a16:creationId xmlns:a16="http://schemas.microsoft.com/office/drawing/2014/main" id="{4A6BD4AA-5624-4BC6-9C49-73E9851F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981575"/>
            <a:ext cx="1009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平台验证</a:t>
            </a:r>
          </a:p>
        </p:txBody>
      </p:sp>
      <p:sp>
        <p:nvSpPr>
          <p:cNvPr id="50" name="uml-vulnerability-rule">
            <a:extLst xmlns:a="http://schemas.openxmlformats.org/drawingml/2006/main">
              <a:ext uri="{FF2B5EF4-FFF2-40B4-BE49-F238E27FC236}">
                <a16:creationId xmlns:a16="http://schemas.microsoft.com/office/drawing/2014/main" id="{7AC2570D-3ECA-483E-930B-DBC140D5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67325"/>
            <a:ext cx="1162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5B9CA"/>
            </a:solidFill>
            <a:prstDash val="solid"/>
          </a:ln>
        </p:spPr>
      </p:sp>
      <p:sp>
        <p:nvSpPr>
          <p:cNvPr id="51" name="uml-ticket-rule">
            <a:extLst xmlns:a="http://schemas.openxmlformats.org/drawingml/2006/main">
              <a:ext uri="{FF2B5EF4-FFF2-40B4-BE49-F238E27FC236}">
                <a16:creationId xmlns:a16="http://schemas.microsoft.com/office/drawing/2014/main" id="{C079FB66-C2FA-43CD-9487-12E65FB0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67325"/>
            <a:ext cx="1162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5B9CA"/>
            </a:solidFill>
            <a:prstDash val="solid"/>
          </a:ln>
        </p:spPr>
      </p:sp>
      <p:sp>
        <p:nvSpPr>
          <p:cNvPr id="52" name="uml-vulnerability-fields">
            <a:extLst xmlns:a="http://schemas.openxmlformats.org/drawingml/2006/main">
              <a:ext uri="{FF2B5EF4-FFF2-40B4-BE49-F238E27FC236}">
                <a16:creationId xmlns:a16="http://schemas.microsoft.com/office/drawing/2014/main" id="{3503B850-5E7F-4422-845B-0BE1541D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53050"/>
            <a:ext cx="9334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标准补丁</a:t>
            </a:r>
          </a:p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历史顺序</a:t>
            </a:r>
          </a:p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共同基线</a:t>
            </a:r>
          </a:p>
        </p:txBody>
      </p:sp>
      <p:sp>
        <p:nvSpPr>
          <p:cNvPr id="53" name="uml-ticket-fields">
            <a:extLst xmlns:a="http://schemas.openxmlformats.org/drawingml/2006/main">
              <a:ext uri="{FF2B5EF4-FFF2-40B4-BE49-F238E27FC236}">
                <a16:creationId xmlns:a16="http://schemas.microsoft.com/office/drawing/2014/main" id="{2539F932-681A-402E-BC86-3EDE3DB6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53050"/>
            <a:ext cx="9334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九州补丁</a:t>
            </a:r>
          </a:p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自研补丁</a:t>
            </a:r>
          </a:p>
          <a:p xmlns:a="http://schemas.openxmlformats.org/drawingml/2006/main">
            <a:pPr algn="l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独立验证</a:t>
            </a:r>
          </a:p>
        </p:txBody>
      </p:sp>
      <p:sp>
        <p:nvSpPr>
          <p:cNvPr id="54" name="uml-association">
            <a:extLst xmlns:a="http://schemas.openxmlformats.org/drawingml/2006/main">
              <a:ext uri="{FF2B5EF4-FFF2-40B4-BE49-F238E27FC236}">
                <a16:creationId xmlns:a16="http://schemas.microsoft.com/office/drawing/2014/main" id="{33D31F04-96E0-484D-9DE1-71A5C8A2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524500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5B9CA"/>
            </a:solidFill>
            <a:prstDash val="solid"/>
          </a:ln>
        </p:spPr>
      </p:sp>
      <p:sp>
        <p:nvSpPr>
          <p:cNvPr id="55" name="uml-multiplicity-one">
            <a:extLst xmlns:a="http://schemas.openxmlformats.org/drawingml/2006/main">
              <a:ext uri="{FF2B5EF4-FFF2-40B4-BE49-F238E27FC236}">
                <a16:creationId xmlns:a16="http://schemas.microsoft.com/office/drawing/2014/main" id="{9509DA96-F2E1-471F-A4E2-6CF8DE47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295900"/>
            <a:ext cx="342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9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9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9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9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9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9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9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9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975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比对</a:t>
            </a:r>
          </a:p>
        </p:txBody>
      </p:sp>
      <p:sp>
        <p:nvSpPr>
          <p:cNvPr id="56" name="uml-multiplicity-many">
            <a:extLst xmlns:a="http://schemas.openxmlformats.org/drawingml/2006/main">
              <a:ext uri="{FF2B5EF4-FFF2-40B4-BE49-F238E27FC236}">
                <a16:creationId xmlns:a16="http://schemas.microsoft.com/office/drawing/2014/main" id="{4F99104B-2145-416C-9471-ADEC3FDB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324475"/>
            <a:ext cx="114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57" name="sequence-actor-0">
            <a:extLst xmlns:a="http://schemas.openxmlformats.org/drawingml/2006/main">
              <a:ext uri="{FF2B5EF4-FFF2-40B4-BE49-F238E27FC236}">
                <a16:creationId xmlns:a16="http://schemas.microsoft.com/office/drawing/2014/main" id="{47B85EE8-2C96-495B-B364-4EBEC9E3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93395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业务端</a:t>
            </a:r>
          </a:p>
        </p:txBody>
      </p:sp>
      <p:sp>
        <p:nvSpPr>
          <p:cNvPr id="58" name="sequence-lifeline-0">
            <a:extLst xmlns:a="http://schemas.openxmlformats.org/drawingml/2006/main">
              <a:ext uri="{FF2B5EF4-FFF2-40B4-BE49-F238E27FC236}">
                <a16:creationId xmlns:a16="http://schemas.microsoft.com/office/drawing/2014/main" id="{3B4519C2-DC05-4BD1-AF52-82675FBE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29225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5B9CA"/>
            </a:solidFill>
            <a:prstDash val="dash"/>
          </a:ln>
        </p:spPr>
      </p:sp>
      <p:sp>
        <p:nvSpPr>
          <p:cNvPr id="59" name="sequence-actor-1">
            <a:extLst xmlns:a="http://schemas.openxmlformats.org/drawingml/2006/main">
              <a:ext uri="{FF2B5EF4-FFF2-40B4-BE49-F238E27FC236}">
                <a16:creationId xmlns:a16="http://schemas.microsoft.com/office/drawing/2014/main" id="{2AB7CFA8-1445-42DC-83A4-6FC5F1F4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93395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IT平台</a:t>
            </a:r>
          </a:p>
        </p:txBody>
      </p:sp>
      <p:sp>
        <p:nvSpPr>
          <p:cNvPr id="60" name="sequence-lifeline-1">
            <a:extLst xmlns:a="http://schemas.openxmlformats.org/drawingml/2006/main">
              <a:ext uri="{FF2B5EF4-FFF2-40B4-BE49-F238E27FC236}">
                <a16:creationId xmlns:a16="http://schemas.microsoft.com/office/drawing/2014/main" id="{AD319958-ADA8-47BA-AC76-3A92A17D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229225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5B9CA"/>
            </a:solidFill>
            <a:prstDash val="dash"/>
          </a:ln>
        </p:spPr>
      </p:sp>
      <p:sp>
        <p:nvSpPr>
          <p:cNvPr id="61" name="sequence-actor-2">
            <a:extLst xmlns:a="http://schemas.openxmlformats.org/drawingml/2006/main">
              <a:ext uri="{FF2B5EF4-FFF2-40B4-BE49-F238E27FC236}">
                <a16:creationId xmlns:a16="http://schemas.microsoft.com/office/drawing/2014/main" id="{E5FE963A-4516-49B6-8CBB-CDC89E17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3395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9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7344F"/>
                </a:solidFill>
                <a:latin typeface="PingFang SC"/>
                <a:ea typeface="PingFang SC"/>
                <a:cs typeface="PingFang SC"/>
              </a:rPr>
              <a:t>漏洞能力</a:t>
            </a:r>
          </a:p>
        </p:txBody>
      </p:sp>
      <p:sp>
        <p:nvSpPr>
          <p:cNvPr id="62" name="sequence-lifeline-2">
            <a:extLst xmlns:a="http://schemas.openxmlformats.org/drawingml/2006/main">
              <a:ext uri="{FF2B5EF4-FFF2-40B4-BE49-F238E27FC236}">
                <a16:creationId xmlns:a16="http://schemas.microsoft.com/office/drawing/2014/main" id="{0F5A12C0-D979-462D-9C7D-62A1EBE2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229225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5B9CA"/>
            </a:solidFill>
            <a:prstDash val="dash"/>
          </a:ln>
        </p:spPr>
      </p:sp>
      <p:cxnSp>
        <p:nvCxnSpPr>
          <p:cNvPr id="63" name="sequence-report">
            <a:extLst xmlns:a="http://schemas.openxmlformats.org/drawingml/2006/main">
              <a:ext uri="{FF2B5EF4-FFF2-40B4-BE49-F238E27FC236}">
                <a16:creationId xmlns:a16="http://schemas.microsoft.com/office/drawing/2014/main" id="{61AD216F-176F-4B94-BAF1-64E6E76B76DB}"/>
              </a:ext>
            </a:extLst>
          </p:cNvPr>
          <p:cNvCxnSpPr/>
          <p:nvPr/>
        </p:nvCxnSpPr>
        <p:spPr>
          <a:xfrm xmlns:a="http://schemas.openxmlformats.org/drawingml/2006/main">
            <a:off x="6419850" y="5381625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5B9CA"/>
            </a:solidFill>
            <a:tailEnd type="triangle" w="sm" len="sm"/>
          </a:ln>
        </p:spPr>
      </p:cxnSp>
      <p:sp>
        <p:nvSpPr>
          <p:cNvPr id="64" name="sequence-report-label">
            <a:extLst xmlns:a="http://schemas.openxmlformats.org/drawingml/2006/main">
              <a:ext uri="{FF2B5EF4-FFF2-40B4-BE49-F238E27FC236}">
                <a16:creationId xmlns:a16="http://schemas.microsoft.com/office/drawing/2014/main" id="{281C3C79-25D1-4B72-994A-0D025111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9112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调用</a:t>
            </a:r>
          </a:p>
        </p:txBody>
      </p:sp>
      <p:cxnSp>
        <p:nvCxnSpPr>
          <p:cNvPr id="65" name="sequence-assign">
            <a:extLst xmlns:a="http://schemas.openxmlformats.org/drawingml/2006/main">
              <a:ext uri="{FF2B5EF4-FFF2-40B4-BE49-F238E27FC236}">
                <a16:creationId xmlns:a16="http://schemas.microsoft.com/office/drawing/2014/main" id="{80336C0D-AB51-489D-8A2B-F3A634A9F2CD}"/>
              </a:ext>
            </a:extLst>
          </p:cNvPr>
          <p:cNvCxnSpPr/>
          <p:nvPr/>
        </p:nvCxnSpPr>
        <p:spPr>
          <a:xfrm xmlns:a="http://schemas.openxmlformats.org/drawingml/2006/main">
            <a:off x="7410450" y="5610225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5B9CA"/>
            </a:solidFill>
            <a:tailEnd type="triangle" w="sm" len="sm"/>
          </a:ln>
        </p:spPr>
      </p:cxnSp>
      <p:sp>
        <p:nvSpPr>
          <p:cNvPr id="66" name="sequence-assign-label">
            <a:extLst xmlns:a="http://schemas.openxmlformats.org/drawingml/2006/main">
              <a:ext uri="{FF2B5EF4-FFF2-40B4-BE49-F238E27FC236}">
                <a16:creationId xmlns:a16="http://schemas.microsoft.com/office/drawing/2014/main" id="{46FF45FB-E53D-4AD5-9433-93F0F1C6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41972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执行</a:t>
            </a:r>
          </a:p>
        </p:txBody>
      </p:sp>
      <p:cxnSp>
        <p:nvCxnSpPr>
          <p:cNvPr id="67" name="sequence-result">
            <a:extLst xmlns:a="http://schemas.openxmlformats.org/drawingml/2006/main">
              <a:ext uri="{FF2B5EF4-FFF2-40B4-BE49-F238E27FC236}">
                <a16:creationId xmlns:a16="http://schemas.microsoft.com/office/drawing/2014/main" id="{6ECF9030-269D-4D37-B3B3-7BBCC23A1F71}"/>
              </a:ext>
            </a:extLst>
          </p:cNvPr>
          <p:cNvCxnSpPr/>
          <p:nvPr/>
        </p:nvCxnSpPr>
        <p:spPr>
          <a:xfrm xmlns:a="http://schemas.openxmlformats.org/drawingml/2006/main" flipH="1">
            <a:off x="7410450" y="5838825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5B9CA"/>
            </a:solidFill>
            <a:tailEnd type="triangle" w="sm" len="sm"/>
          </a:ln>
        </p:spPr>
      </p:cxnSp>
      <p:sp>
        <p:nvSpPr>
          <p:cNvPr id="68" name="sequence-result-label">
            <a:extLst xmlns:a="http://schemas.openxmlformats.org/drawingml/2006/main">
              <a:ext uri="{FF2B5EF4-FFF2-40B4-BE49-F238E27FC236}">
                <a16:creationId xmlns:a16="http://schemas.microsoft.com/office/drawing/2014/main" id="{AA64BD3A-5990-4671-A0F6-EF18149F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64832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返回</a:t>
            </a:r>
          </a:p>
        </p:txBody>
      </p:sp>
      <p:cxnSp>
        <p:nvCxnSpPr>
          <p:cNvPr id="69" name="sequence-close">
            <a:extLst xmlns:a="http://schemas.openxmlformats.org/drawingml/2006/main">
              <a:ext uri="{FF2B5EF4-FFF2-40B4-BE49-F238E27FC236}">
                <a16:creationId xmlns:a16="http://schemas.microsoft.com/office/drawing/2014/main" id="{5C9DC076-3A32-4922-81DF-00279B10BFAE}"/>
              </a:ext>
            </a:extLst>
          </p:cNvPr>
          <p:cNvCxnSpPr/>
          <p:nvPr/>
        </p:nvCxnSpPr>
        <p:spPr>
          <a:xfrm xmlns:a="http://schemas.openxmlformats.org/drawingml/2006/main" flipH="1">
            <a:off x="6419850" y="6067425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5B9CA"/>
            </a:solidFill>
            <a:tailEnd type="triangle" w="sm" len="sm"/>
          </a:ln>
        </p:spPr>
      </p:cxnSp>
      <p:sp>
        <p:nvSpPr>
          <p:cNvPr id="70" name="sequence-close-label">
            <a:extLst xmlns:a="http://schemas.openxmlformats.org/drawingml/2006/main">
              <a:ext uri="{FF2B5EF4-FFF2-40B4-BE49-F238E27FC236}">
                <a16:creationId xmlns:a16="http://schemas.microsoft.com/office/drawing/2014/main" id="{915B1A07-3109-4533-BB3C-B62EADB7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7692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5788A"/>
                </a:solidFill>
                <a:latin typeface="PingFang SC"/>
                <a:ea typeface="PingFang SC"/>
                <a:cs typeface="PingFang SC"/>
              </a:rPr>
              <a:t>展示</a:t>
            </a:r>
          </a:p>
        </p:txBody>
      </p:sp>
    </p:spTree>
    <p:extLst>
      <p:ext uri="{BB962C8B-B14F-4D97-AF65-F5344CB8AC3E}">
        <p14:creationId xmlns:p14="http://schemas.microsoft.com/office/powerpoint/2010/main" val="1864637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2026-10-28T03:41:06.3400000Z</dcterms:created>
  <dcterms:modified xsi:type="dcterms:W3CDTF">2026-10-28T03:41:06.3400000Z</dcterms:modified>
</coreProperties>
</file>